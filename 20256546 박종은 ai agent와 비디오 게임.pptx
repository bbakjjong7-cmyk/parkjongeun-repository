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9" r:id="rId7"/>
    <p:sldId id="276" r:id="rId8"/>
    <p:sldId id="275" r:id="rId9"/>
    <p:sldId id="267" r:id="rId10"/>
    <p:sldId id="277" r:id="rId11"/>
    <p:sldId id="266" r:id="rId12"/>
    <p:sldId id="268" r:id="rId13"/>
    <p:sldId id="269" r:id="rId14"/>
    <p:sldId id="280" r:id="rId15"/>
    <p:sldId id="270" r:id="rId16"/>
    <p:sldId id="286" r:id="rId17"/>
    <p:sldId id="285" r:id="rId18"/>
    <p:sldId id="272" r:id="rId19"/>
    <p:sldId id="279" r:id="rId20"/>
    <p:sldId id="283" r:id="rId21"/>
    <p:sldId id="273" r:id="rId22"/>
    <p:sldId id="287" r:id="rId23"/>
    <p:sldId id="278" r:id="rId24"/>
    <p:sldId id="263" r:id="rId25"/>
    <p:sldId id="284" r:id="rId26"/>
    <p:sldId id="265" r:id="rId27"/>
  </p:sldIdLst>
  <p:sldSz cx="18288000" cy="10287000"/>
  <p:notesSz cx="6858000" cy="9144000"/>
  <p:embeddedFontLst>
    <p:embeddedFont>
      <p:font typeface="Neo둥근모 Pro" panose="020B0600000101010101" charset="-127"/>
      <p:regular r:id="rId28"/>
    </p:embeddedFont>
    <p:embeddedFont>
      <p:font typeface="둥근모꼴" panose="020B0600000101010101" charset="-127"/>
      <p:regular r:id="rId29"/>
    </p:embeddedFont>
    <p:embeddedFont>
      <p:font typeface="Arcade Gamer" panose="020B0600000101010101" charset="0"/>
      <p:regular r:id="rId30"/>
    </p:embeddedFont>
    <p:embeddedFont>
      <p:font typeface="Press Start 2P" panose="020B0600000101010101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730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templates/EAGmqa0TIf0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ZFS19PDm_w?feature=oembed" TargetMode="External"/><Relationship Id="rId6" Type="http://schemas.openxmlformats.org/officeDocument/2006/relationships/image" Target="../media/image12.svg"/><Relationship Id="rId11" Type="http://schemas.openxmlformats.org/officeDocument/2006/relationships/image" Target="../media/image18.jpeg"/><Relationship Id="rId5" Type="http://schemas.openxmlformats.org/officeDocument/2006/relationships/image" Target="../media/image11.svg"/><Relationship Id="rId10" Type="http://schemas.openxmlformats.org/officeDocument/2006/relationships/hyperlink" Target="https://youtube.com/shorts/4ZFS19PDm_w?si=y_bireiq2JEIs5U4" TargetMode="External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22.jpe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sv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26.png"/><Relationship Id="rId4" Type="http://schemas.openxmlformats.org/officeDocument/2006/relationships/image" Target="../media/image11.sv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28.jpeg"/><Relationship Id="rId4" Type="http://schemas.openxmlformats.org/officeDocument/2006/relationships/image" Target="../media/image11.sv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30.jpeg"/><Relationship Id="rId4" Type="http://schemas.openxmlformats.org/officeDocument/2006/relationships/image" Target="../media/image11.sv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32.jpeg"/><Relationship Id="rId4" Type="http://schemas.openxmlformats.org/officeDocument/2006/relationships/image" Target="../media/image11.sv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34.jpeg"/><Relationship Id="rId4" Type="http://schemas.openxmlformats.org/officeDocument/2006/relationships/image" Target="../media/image11.svg"/><Relationship Id="rId9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35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hyperlink" Target="https://www.smedaily.co.kr/news/articleView.html?idxno=347204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12" Type="http://schemas.openxmlformats.org/officeDocument/2006/relationships/hyperlink" Target="https://www.gianty.com/the-rise-of-ai-agents-in-game-development/" TargetMode="External"/><Relationship Id="rId17" Type="http://schemas.openxmlformats.org/officeDocument/2006/relationships/hyperlink" Target="https://isaac-christian.tistory.com/entry/NVIDIA-Omniverse-Isaac-Sim%EC%9D%B4%EB%9E%80" TargetMode="External"/><Relationship Id="rId2" Type="http://schemas.openxmlformats.org/officeDocument/2006/relationships/image" Target="../media/image1.svg"/><Relationship Id="rId16" Type="http://schemas.openxmlformats.org/officeDocument/2006/relationships/hyperlink" Target="https://digitaldefynd.com/IQ/ai-in-video-game-testin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hyperlink" Target="https://zdnet.co.kr/view/?no=20251106100853" TargetMode="External"/><Relationship Id="rId5" Type="http://schemas.openxmlformats.org/officeDocument/2006/relationships/image" Target="../media/image2.svg"/><Relationship Id="rId15" Type="http://schemas.openxmlformats.org/officeDocument/2006/relationships/hyperlink" Target="https://brunch.co.kr/@262093f026414af/53" TargetMode="External"/><Relationship Id="rId10" Type="http://schemas.openxmlformats.org/officeDocument/2006/relationships/hyperlink" Target="https://www.dbpia.co.kr/journal/articleDetail?nodeId=NODE10529591" TargetMode="External"/><Relationship Id="rId4" Type="http://schemas.openxmlformats.org/officeDocument/2006/relationships/image" Target="../media/image4.svg"/><Relationship Id="rId9" Type="http://schemas.openxmlformats.org/officeDocument/2006/relationships/hyperlink" Target="https://cloud.google.com/discover/what-are-ai-agents?hl=ko" TargetMode="External"/><Relationship Id="rId14" Type="http://schemas.openxmlformats.org/officeDocument/2006/relationships/hyperlink" Target="https://www.inven.co.kr/webzine/news/?news=304103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0.svg"/><Relationship Id="rId4" Type="http://schemas.openxmlformats.org/officeDocument/2006/relationships/image" Target="../media/image12.sv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4.svg"/><Relationship Id="rId9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3137" y="6164811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976448" y="2208605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607103" y="2183027"/>
            <a:ext cx="11073666" cy="4248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31"/>
              </a:lnSpc>
            </a:pPr>
            <a:r>
              <a:rPr lang="en-US" altLang="ko-KR" sz="9600">
                <a:latin typeface="Neo둥근모 Pro" panose="02010503060201040203" pitchFamily="2" charset="-127"/>
                <a:ea typeface="Neo둥근모 Pro" panose="02010503060201040203" pitchFamily="2" charset="-127"/>
              </a:rPr>
              <a:t>AI agent</a:t>
            </a:r>
            <a:r>
              <a:rPr lang="ko-KR" altLang="en-US" sz="9600">
                <a:latin typeface="Neo둥근모 Pro" panose="02010503060201040203" pitchFamily="2" charset="-127"/>
                <a:ea typeface="Neo둥근모 Pro" panose="02010503060201040203" pitchFamily="2" charset="-127"/>
              </a:rPr>
              <a:t>와 </a:t>
            </a:r>
            <a:br>
              <a:rPr lang="en-US" altLang="ko-KR" sz="9600">
                <a:latin typeface="Neo둥근모 Pro" panose="02010503060201040203" pitchFamily="2" charset="-127"/>
                <a:ea typeface="Neo둥근모 Pro" panose="02010503060201040203" pitchFamily="2" charset="-127"/>
              </a:rPr>
            </a:br>
            <a:r>
              <a:rPr lang="ko-KR" altLang="en-US" sz="9600">
                <a:latin typeface="Neo둥근모 Pro" panose="02010503060201040203" pitchFamily="2" charset="-127"/>
                <a:ea typeface="Neo둥근모 Pro" panose="02010503060201040203" pitchFamily="2" charset="-127"/>
              </a:rPr>
              <a:t>비디오 게임에서의 </a:t>
            </a:r>
            <a:r>
              <a:rPr lang="en-US" altLang="ko-KR" sz="9600">
                <a:latin typeface="Neo둥근모 Pro" panose="02010503060201040203" pitchFamily="2" charset="-127"/>
                <a:ea typeface="Neo둥근모 Pro" panose="02010503060201040203" pitchFamily="2" charset="-127"/>
              </a:rPr>
              <a:t>AI </a:t>
            </a:r>
            <a:r>
              <a:rPr lang="ko-KR" altLang="en-US" sz="9600">
                <a:latin typeface="Neo둥근모 Pro" panose="02010503060201040203" pitchFamily="2" charset="-127"/>
                <a:ea typeface="Neo둥근모 Pro" panose="02010503060201040203" pitchFamily="2" charset="-127"/>
              </a:rPr>
              <a:t>에이전트</a:t>
            </a:r>
            <a:endParaRPr lang="en-US" sz="10709">
              <a:solidFill>
                <a:srgbClr val="535454"/>
              </a:solidFill>
              <a:latin typeface="Neo둥근모 Pro" panose="02010503060201040203" pitchFamily="2" charset="-127"/>
              <a:ea typeface="Neo둥근모 Pro" panose="02010503060201040203" pitchFamily="2" charset="-127"/>
              <a:cs typeface="Cascadia Code SemiBold" panose="020B0609020000020004" pitchFamily="49" charset="0"/>
              <a:sym typeface="Press Start 2P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135560" y="5973721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3754797" y="3048554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269130" y="6489102"/>
            <a:ext cx="5749739" cy="91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</a:pPr>
            <a:r>
              <a:rPr lang="ko-KR" altLang="en-US" sz="3200">
                <a:latin typeface="Neo둥근모 Pro" panose="02010503060201040203" pitchFamily="2" charset="-127"/>
                <a:ea typeface="Neo둥근모 Pro" panose="02010503060201040203" pitchFamily="2" charset="-127"/>
              </a:rPr>
              <a:t>문헌정보학과 </a:t>
            </a:r>
            <a:r>
              <a:rPr lang="en-US" altLang="ko-KR" sz="3200">
                <a:latin typeface="Neo둥근모 Pro" panose="02010503060201040203" pitchFamily="2" charset="-127"/>
                <a:ea typeface="Neo둥근모 Pro" panose="02010503060201040203" pitchFamily="2" charset="-127"/>
              </a:rPr>
              <a:t>25 </a:t>
            </a:r>
            <a:r>
              <a:rPr lang="ko-KR" altLang="en-US" sz="3200">
                <a:latin typeface="Neo둥근모 Pro" panose="02010503060201040203" pitchFamily="2" charset="-127"/>
                <a:ea typeface="Neo둥근모 Pro" panose="02010503060201040203" pitchFamily="2" charset="-127"/>
              </a:rPr>
              <a:t>박종은</a:t>
            </a:r>
          </a:p>
          <a:p>
            <a:pPr algn="ctr">
              <a:lnSpc>
                <a:spcPts val="3710"/>
              </a:lnSpc>
            </a:pPr>
            <a:endParaRPr lang="en-US" sz="2921" spc="1294">
              <a:solidFill>
                <a:srgbClr val="535454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13838493" y="7513336"/>
            <a:ext cx="457922" cy="1042117"/>
          </a:xfrm>
          <a:custGeom>
            <a:avLst/>
            <a:gdLst/>
            <a:ahLst/>
            <a:cxnLst/>
            <a:rect l="l" t="t" r="r" b="b"/>
            <a:pathLst>
              <a:path w="457922" h="1042117">
                <a:moveTo>
                  <a:pt x="0" y="0"/>
                </a:moveTo>
                <a:lnTo>
                  <a:pt x="457922" y="0"/>
                </a:lnTo>
                <a:lnTo>
                  <a:pt x="457922" y="1042117"/>
                </a:lnTo>
                <a:lnTo>
                  <a:pt x="0" y="1042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DEB50B3F-78F0-E1AC-6E78-16A5A11D76C6}"/>
              </a:ext>
            </a:extLst>
          </p:cNvPr>
          <p:cNvSpPr txBox="1"/>
          <p:nvPr/>
        </p:nvSpPr>
        <p:spPr>
          <a:xfrm>
            <a:off x="-660038" y="-195920"/>
            <a:ext cx="4267141" cy="391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altLang="ko-KR" sz="1000">
                <a:latin typeface="Neo둥근모 Pro" panose="02010503060201040203" pitchFamily="2" charset="-127"/>
                <a:ea typeface="Neo둥근모 Pro" panose="02010503060201040203" pitchFamily="2" charset="-127"/>
                <a:hlinkClick r:id="rId8"/>
              </a:rPr>
              <a:t>https://www.canva.com/templates/EAGmqa0TIf0/</a:t>
            </a:r>
            <a:r>
              <a:rPr lang="en-US" altLang="ko-KR" sz="1000">
                <a:latin typeface="Neo둥근모 Pro" panose="02010503060201040203" pitchFamily="2" charset="-127"/>
                <a:ea typeface="Neo둥근모 Pro" panose="02010503060201040203" pitchFamily="2" charset="-127"/>
              </a:rPr>
              <a:t> </a:t>
            </a:r>
            <a:endParaRPr lang="en-US" sz="1000" spc="1294">
              <a:solidFill>
                <a:srgbClr val="535454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" y="6186202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142314" y="3066930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6618841" y="6090657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4332317" y="1920736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8219856" y="8078196"/>
            <a:ext cx="6490116" cy="344202"/>
          </a:xfrm>
          <a:custGeom>
            <a:avLst/>
            <a:gdLst/>
            <a:ahLst/>
            <a:cxnLst/>
            <a:rect l="l" t="t" r="r" b="b"/>
            <a:pathLst>
              <a:path w="6490116" h="344202">
                <a:moveTo>
                  <a:pt x="0" y="0"/>
                </a:moveTo>
                <a:lnTo>
                  <a:pt x="6490115" y="0"/>
                </a:lnTo>
                <a:lnTo>
                  <a:pt x="6490115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24" r="-1953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2604816" y="4513284"/>
            <a:ext cx="3982863" cy="1817067"/>
          </a:xfrm>
          <a:custGeom>
            <a:avLst/>
            <a:gdLst/>
            <a:ahLst/>
            <a:cxnLst/>
            <a:rect l="l" t="t" r="r" b="b"/>
            <a:pathLst>
              <a:path w="3982863" h="1817067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2553353" y="5059318"/>
            <a:ext cx="408579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AI </a:t>
            </a:r>
            <a:r>
              <a:rPr lang="ko-KR" altLang="en-US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에이전트란</a:t>
            </a:r>
            <a:r>
              <a:rPr lang="en-US" altLang="ko-KR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?</a:t>
            </a:r>
            <a:endParaRPr lang="en-US" sz="2700">
              <a:solidFill>
                <a:srgbClr val="535454"/>
              </a:solidFill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  <a:sym typeface="Arcade Gamer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7100181" y="4513284"/>
            <a:ext cx="3982863" cy="1817067"/>
          </a:xfrm>
          <a:custGeom>
            <a:avLst/>
            <a:gdLst/>
            <a:ahLst/>
            <a:cxnLst/>
            <a:rect l="l" t="t" r="r" b="b"/>
            <a:pathLst>
              <a:path w="3982863" h="1817067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428029" y="5059318"/>
            <a:ext cx="3327168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ko-KR" altLang="en-US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비디오 게임에서의 </a:t>
            </a:r>
            <a:r>
              <a:rPr lang="en-US" altLang="ko-KR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AI </a:t>
            </a:r>
            <a:r>
              <a:rPr lang="ko-KR" altLang="en-US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에이전트</a:t>
            </a:r>
            <a:endParaRPr lang="en-US" sz="2700">
              <a:solidFill>
                <a:srgbClr val="535454"/>
              </a:solidFill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  <a:sym typeface="Arcade Gamer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1700321" y="4513284"/>
            <a:ext cx="3982863" cy="1817067"/>
          </a:xfrm>
          <a:custGeom>
            <a:avLst/>
            <a:gdLst/>
            <a:ahLst/>
            <a:cxnLst/>
            <a:rect l="l" t="t" r="r" b="b"/>
            <a:pathLst>
              <a:path w="3982863" h="1817067">
                <a:moveTo>
                  <a:pt x="0" y="0"/>
                </a:moveTo>
                <a:lnTo>
                  <a:pt x="3982863" y="0"/>
                </a:lnTo>
                <a:lnTo>
                  <a:pt x="3982863" y="1817066"/>
                </a:lnTo>
                <a:lnTo>
                  <a:pt x="0" y="181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14555696" y="7968274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6DFCE576-F156-48BF-4686-818A046F1F30}"/>
              </a:ext>
            </a:extLst>
          </p:cNvPr>
          <p:cNvSpPr txBox="1"/>
          <p:nvPr/>
        </p:nvSpPr>
        <p:spPr>
          <a:xfrm>
            <a:off x="7100181" y="1685094"/>
            <a:ext cx="4085790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ko-KR" altLang="en-US" sz="70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목차</a:t>
            </a:r>
            <a:endParaRPr lang="en-US" sz="7000">
              <a:solidFill>
                <a:srgbClr val="535454"/>
              </a:solidFill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  <a:sym typeface="Arcade Gamer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B607398B-574D-7EE2-188A-1F1F30EA4908}"/>
              </a:ext>
            </a:extLst>
          </p:cNvPr>
          <p:cNvSpPr txBox="1"/>
          <p:nvPr/>
        </p:nvSpPr>
        <p:spPr>
          <a:xfrm>
            <a:off x="12028168" y="5059317"/>
            <a:ext cx="3327168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ko-KR" altLang="en-US" sz="2700">
                <a:solidFill>
                  <a:srgbClr val="535454"/>
                </a:solidFill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  <a:sym typeface="Arcade Gamer"/>
              </a:rPr>
              <a:t>시사점</a:t>
            </a:r>
            <a:endParaRPr lang="en-US" sz="2700">
              <a:solidFill>
                <a:srgbClr val="535454"/>
              </a:solidFill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  <a:sym typeface="Arcade Gam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06743" y="6186202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800384" y="6026748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028700" y="4189695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0" y="8078196"/>
            <a:ext cx="6432834" cy="344202"/>
          </a:xfrm>
          <a:custGeom>
            <a:avLst/>
            <a:gdLst/>
            <a:ahLst/>
            <a:cxnLst/>
            <a:rect l="l" t="t" r="r" b="b"/>
            <a:pathLst>
              <a:path w="6432834" h="344202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32" r="-2060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1028700" y="7169484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2" y="0"/>
                </a:lnTo>
                <a:lnTo>
                  <a:pt x="593432" y="1350505"/>
                </a:lnTo>
                <a:lnTo>
                  <a:pt x="0" y="1350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4278839" y="236216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14412927" y="7169484"/>
            <a:ext cx="554734" cy="1262439"/>
          </a:xfrm>
          <a:custGeom>
            <a:avLst/>
            <a:gdLst/>
            <a:ahLst/>
            <a:cxnLst/>
            <a:rect l="l" t="t" r="r" b="b"/>
            <a:pathLst>
              <a:path w="554734" h="1262439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>
            <a:off x="6286238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6F23C62-0CCC-DF5F-3A78-6E89168944B5}"/>
              </a:ext>
            </a:extLst>
          </p:cNvPr>
          <p:cNvGrpSpPr/>
          <p:nvPr/>
        </p:nvGrpSpPr>
        <p:grpSpPr>
          <a:xfrm>
            <a:off x="2731773" y="1054934"/>
            <a:ext cx="12824451" cy="6700798"/>
            <a:chOff x="2743200" y="1152525"/>
            <a:chExt cx="12824451" cy="670079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3A61D71-BCC6-C43A-9DAD-36BD05966AFB}"/>
                </a:ext>
              </a:extLst>
            </p:cNvPr>
            <p:cNvSpPr/>
            <p:nvPr/>
          </p:nvSpPr>
          <p:spPr>
            <a:xfrm>
              <a:off x="2743200" y="1152525"/>
              <a:ext cx="12824451" cy="6700798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822645" y="1252515"/>
              <a:ext cx="12642708" cy="6503217"/>
            </a:xfrm>
            <a:custGeom>
              <a:avLst/>
              <a:gdLst/>
              <a:ahLst/>
              <a:cxnLst/>
              <a:rect l="l" t="t" r="r" b="b"/>
              <a:pathLst>
                <a:path w="8011588" h="3655056">
                  <a:moveTo>
                    <a:pt x="0" y="0"/>
                  </a:moveTo>
                  <a:lnTo>
                    <a:pt x="8011588" y="0"/>
                  </a:lnTo>
                  <a:lnTo>
                    <a:pt x="8011588" y="3655056"/>
                  </a:lnTo>
                  <a:lnTo>
                    <a:pt x="0" y="3655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TextBox 12">
            <a:extLst>
              <a:ext uri="{FF2B5EF4-FFF2-40B4-BE49-F238E27FC236}">
                <a16:creationId xmlns:a16="http://schemas.microsoft.com/office/drawing/2014/main" id="{BE007067-F075-BA9A-52EE-ECF481D9F785}"/>
              </a:ext>
            </a:extLst>
          </p:cNvPr>
          <p:cNvSpPr txBox="1"/>
          <p:nvPr/>
        </p:nvSpPr>
        <p:spPr>
          <a:xfrm>
            <a:off x="6269130" y="2072505"/>
            <a:ext cx="5749739" cy="996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altLang="ko-KR" sz="6000">
                <a:latin typeface="Neo둥근모 Pro" panose="02010503060201040203" pitchFamily="2" charset="-127"/>
                <a:ea typeface="Neo둥근모 Pro" panose="02010503060201040203" pitchFamily="2" charset="-127"/>
              </a:rPr>
              <a:t>AI AGENT</a:t>
            </a:r>
            <a:r>
              <a:rPr lang="ko-KR" altLang="en-US" sz="6000">
                <a:latin typeface="Neo둥근모 Pro" panose="02010503060201040203" pitchFamily="2" charset="-127"/>
                <a:ea typeface="Neo둥근모 Pro" panose="02010503060201040203" pitchFamily="2" charset="-127"/>
              </a:rPr>
              <a:t>란</a:t>
            </a:r>
            <a:r>
              <a:rPr lang="en-US" altLang="ko-KR" sz="6000">
                <a:latin typeface="Neo둥근모 Pro" panose="02010503060201040203" pitchFamily="2" charset="-127"/>
                <a:ea typeface="Neo둥근모 Pro" panose="02010503060201040203" pitchFamily="2" charset="-127"/>
              </a:rPr>
              <a:t>?</a:t>
            </a:r>
            <a:endParaRPr lang="ko-KR" altLang="en-US" sz="6000">
              <a:latin typeface="Neo둥근모 Pro" panose="02010503060201040203" pitchFamily="2" charset="-127"/>
              <a:ea typeface="Neo둥근모 Pro" panose="02010503060201040203" pitchFamily="2" charset="-127"/>
            </a:endParaRPr>
          </a:p>
          <a:p>
            <a:pPr algn="ctr">
              <a:lnSpc>
                <a:spcPts val="3710"/>
              </a:lnSpc>
            </a:pPr>
            <a:endParaRPr lang="en-US" sz="6000" spc="1294">
              <a:solidFill>
                <a:srgbClr val="535454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B1787-2E9F-0041-7E82-6F117BA6D77D}"/>
              </a:ext>
            </a:extLst>
          </p:cNvPr>
          <p:cNvSpPr txBox="1"/>
          <p:nvPr/>
        </p:nvSpPr>
        <p:spPr>
          <a:xfrm>
            <a:off x="2459073" y="3391076"/>
            <a:ext cx="133698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지능형 에이전트 또는 인공지능 에이전트라고 </a:t>
            </a:r>
            <a:endParaRPr lang="en-US" altLang="ko-KR" sz="4000"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</a:endParaRPr>
          </a:p>
          <a:p>
            <a:pPr algn="ctr"/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불리는 </a:t>
            </a:r>
            <a:r>
              <a:rPr lang="en-US" altLang="ko-KR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AI AGENT</a:t>
            </a:r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는 </a:t>
            </a:r>
            <a:endParaRPr lang="en-US" altLang="ko-KR" sz="4000"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</a:endParaRPr>
          </a:p>
          <a:p>
            <a:pPr algn="ctr"/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사용자의 목표 달성을 위해 스스로 환경을 인지하고</a:t>
            </a:r>
            <a:r>
              <a:rPr lang="en-US" altLang="ko-KR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, </a:t>
            </a:r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계획을 세우며</a:t>
            </a:r>
            <a:r>
              <a:rPr lang="en-US" altLang="ko-KR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, </a:t>
            </a:r>
            <a:r>
              <a:rPr lang="ko-KR" altLang="en-US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도구를 활용해 능동적으로 작업을 수행하는 자율형 인공지능 시스템이다</a:t>
            </a:r>
            <a:r>
              <a:rPr lang="en-US" altLang="ko-KR" sz="4000">
                <a:latin typeface="둥근모꼴" panose="020B0500000000000000" pitchFamily="34" charset="-127"/>
                <a:ea typeface="둥근모꼴" panose="020B0500000000000000" pitchFamily="34" charset="-127"/>
                <a:cs typeface="둥근모꼴" panose="020B0500000000000000" pitchFamily="34" charset="-127"/>
              </a:rPr>
              <a:t>.</a:t>
            </a:r>
            <a:endParaRPr lang="ko-KR" altLang="en-US" sz="4000">
              <a:latin typeface="둥근모꼴" panose="020B0500000000000000" pitchFamily="34" charset="-127"/>
              <a:ea typeface="둥근모꼴" panose="020B0500000000000000" pitchFamily="34" charset="-127"/>
              <a:cs typeface="둥근모꼴" panose="020B05000000000000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29A2-4C5A-36AE-7343-8B14B930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09F49A-5F39-81A2-E383-4382953277F2}"/>
              </a:ext>
            </a:extLst>
          </p:cNvPr>
          <p:cNvSpPr/>
          <p:nvPr/>
        </p:nvSpPr>
        <p:spPr>
          <a:xfrm flipH="1">
            <a:off x="101967" y="6424005"/>
            <a:ext cx="219269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0F3D2F8-F293-C6AA-4D0C-03859EAC68FD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6C4D30-1AEC-43C2-47E1-6E7D4D630BD4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2A571AB-4781-AB42-EEFB-E99AA201BBBA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3001C8B-8B19-BBC0-F75F-8356F89DC568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D271515-8D4A-43AC-6DD7-43988CBA8657}"/>
              </a:ext>
            </a:extLst>
          </p:cNvPr>
          <p:cNvSpPr/>
          <p:nvPr/>
        </p:nvSpPr>
        <p:spPr>
          <a:xfrm>
            <a:off x="16797769" y="6328459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BAE8D11-4F92-86F2-2D0D-22A0FD6D1CE5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1D2E2A4-5DF9-A8B4-73AA-483C6E066C13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0DFB46D-5369-D096-914C-348AD4A46157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2B5AC5A-4372-FF77-81A1-F4BD30AC37A3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945E766-CA84-5463-ECAB-3AB299146DBB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AFC8589-DE1A-77A8-AF1B-F766B86140C5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0450CED-F843-E322-553D-ED192DD03B29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AD6B741-A334-3CF2-8697-375356A0D1C1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34A344A-5ED4-2F5A-1C33-90EFEED3DBBF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7CCE5-70C1-BB12-3A96-2911DBFE88A7}"/>
              </a:ext>
            </a:extLst>
          </p:cNvPr>
          <p:cNvSpPr txBox="1"/>
          <p:nvPr/>
        </p:nvSpPr>
        <p:spPr>
          <a:xfrm>
            <a:off x="3055125" y="2088435"/>
            <a:ext cx="12177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AI Agent         vs         AI Chatbot </a:t>
            </a:r>
            <a:endParaRPr lang="ko-KR" altLang="en-US" sz="6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1ECBE-55E5-1F9A-D609-74F46D41B723}"/>
              </a:ext>
            </a:extLst>
          </p:cNvPr>
          <p:cNvSpPr txBox="1"/>
          <p:nvPr/>
        </p:nvSpPr>
        <p:spPr>
          <a:xfrm>
            <a:off x="1953012" y="3703633"/>
            <a:ext cx="632626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자율적이고 독립적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목적지향적 다단계 프로세스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외부 파일</a:t>
            </a:r>
            <a:r>
              <a:rPr lang="en-US" altLang="ko-KR" sz="350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브라우저에 적용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행동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A2FF40-E0E0-FDAB-5E13-4C641D2F14D6}"/>
              </a:ext>
            </a:extLst>
          </p:cNvPr>
          <p:cNvSpPr txBox="1"/>
          <p:nvPr/>
        </p:nvSpPr>
        <p:spPr>
          <a:xfrm>
            <a:off x="9829704" y="3681677"/>
            <a:ext cx="632626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질문에 응답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단발적 응답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대화창에 머묾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pPr algn="ctr"/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말</a:t>
            </a:r>
          </a:p>
        </p:txBody>
      </p:sp>
    </p:spTree>
    <p:extLst>
      <p:ext uri="{BB962C8B-B14F-4D97-AF65-F5344CB8AC3E}">
        <p14:creationId xmlns:p14="http://schemas.microsoft.com/office/powerpoint/2010/main" val="226337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9D8A-D719-6519-72BB-8148BFBF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17818D-9C0E-3ABF-3335-76CEEBE7EC10}"/>
              </a:ext>
            </a:extLst>
          </p:cNvPr>
          <p:cNvSpPr/>
          <p:nvPr/>
        </p:nvSpPr>
        <p:spPr>
          <a:xfrm flipH="1">
            <a:off x="101967" y="6424005"/>
            <a:ext cx="219269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A195F3-345D-A693-A7CF-63242662A722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813994-8E45-5D0F-DFA2-AF33F5AEEFCE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F1BAD61-F073-AC39-CA4A-0260031B5B2D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A8DC8AF-92E6-4A27-123D-145953441612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75AFF10-AAE5-9C46-F104-126346114994}"/>
              </a:ext>
            </a:extLst>
          </p:cNvPr>
          <p:cNvSpPr/>
          <p:nvPr/>
        </p:nvSpPr>
        <p:spPr>
          <a:xfrm>
            <a:off x="16797769" y="6328459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4B0AA0F-EBB4-D853-E393-8AA871669C6F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BE445AF-FC01-1DF3-9B43-D1578204DB99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779C0B0-5272-A727-C3F3-1CBED1121E3D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4C96B6E-B757-79D5-F88C-2DEC6D4FCC29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A9EEEDD-2E80-B773-1A00-BF1036031802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046759C-4F5B-E437-A95E-6FCC985FFE13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1F4EEF9-4BDB-BD7C-8999-C47E4818BC26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499AF32-B455-F910-CB0A-E9A4740BF619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F3D48A2-8CAB-03E9-27D5-F7F32C102AD7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83BD5-4DFD-E866-476F-FEF0B3A6438F}"/>
              </a:ext>
            </a:extLst>
          </p:cNvPr>
          <p:cNvSpPr txBox="1"/>
          <p:nvPr/>
        </p:nvSpPr>
        <p:spPr>
          <a:xfrm>
            <a:off x="2299614" y="1101419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AI Agent</a:t>
            </a:r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가 사용되는 곳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9B5F6A-13C6-2FF2-4226-984ADF5BF63F}"/>
              </a:ext>
            </a:extLst>
          </p:cNvPr>
          <p:cNvSpPr txBox="1"/>
          <p:nvPr/>
        </p:nvSpPr>
        <p:spPr>
          <a:xfrm>
            <a:off x="9328454" y="3144772"/>
            <a:ext cx="6326268" cy="556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Neo둥근모 Pro" panose="020B0600000101010101" charset="-127"/>
                <a:ea typeface="Neo둥근모 Pro" panose="020B0600000101010101" charset="-127"/>
              </a:rPr>
              <a:t>최근에 화제가 된 </a:t>
            </a:r>
            <a:r>
              <a:rPr lang="en-US" altLang="ko-KR" sz="300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3000">
                <a:latin typeface="Neo둥근모 Pro" panose="020B0600000101010101" charset="-127"/>
                <a:ea typeface="Neo둥근모 Pro" panose="020B0600000101010101" charset="-127"/>
              </a:rPr>
              <a:t>비서</a:t>
            </a:r>
            <a:r>
              <a:rPr lang="en-US" altLang="ko-KR" sz="3000">
                <a:latin typeface="Neo둥근모 Pro" panose="020B0600000101010101" charset="-127"/>
                <a:ea typeface="Neo둥근모 Pro" panose="020B0600000101010101" charset="-127"/>
              </a:rPr>
              <a:t>, Open </a:t>
            </a:r>
            <a:r>
              <a:rPr lang="en-US" altLang="ko-KR" sz="3000" err="1">
                <a:latin typeface="Neo둥근모 Pro" panose="020B0600000101010101" charset="-127"/>
                <a:ea typeface="Neo둥근모 Pro" panose="020B0600000101010101" charset="-127"/>
              </a:rPr>
              <a:t>ClaW</a:t>
            </a:r>
            <a:endParaRPr lang="ko-KR" altLang="en-US" sz="3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120EFE-450A-482F-D8EF-B47A62DC854F}"/>
              </a:ext>
            </a:extLst>
          </p:cNvPr>
          <p:cNvSpPr txBox="1"/>
          <p:nvPr/>
        </p:nvSpPr>
        <p:spPr>
          <a:xfrm>
            <a:off x="2051880" y="3241005"/>
            <a:ext cx="6326268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프로그래밍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고객 문제 해결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웹 및 컴퓨터 조작</a:t>
            </a:r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endParaRPr lang="en-US" altLang="ko-KR" sz="3500">
              <a:latin typeface="Neo둥근모 Pro" panose="020B0600000101010101" charset="-127"/>
              <a:ea typeface="Neo둥근모 Pro" panose="020B0600000101010101" charset="-127"/>
            </a:endParaRPr>
          </a:p>
          <a:p>
            <a:r>
              <a:rPr lang="ko-KR" altLang="en-US" sz="3500">
                <a:latin typeface="Neo둥근모 Pro" panose="020B0600000101010101" charset="-127"/>
                <a:ea typeface="Neo둥근모 Pro" panose="020B0600000101010101" charset="-127"/>
              </a:rPr>
              <a:t>비즈니스 및 사무 자동화</a:t>
            </a:r>
          </a:p>
        </p:txBody>
      </p:sp>
      <p:pic>
        <p:nvPicPr>
          <p:cNvPr id="18" name="그림 17" descr="The image shows a person holding a small robot with a red head, presumably an OpenAI Chatbot, with a Korean overlay questioning its ability to complete worldwide tasks in 24 hours.&#10;&#10;AI 생성 콘텐츠는 정확하지 않을 수 있습니다.">
            <a:extLst>
              <a:ext uri="{FF2B5EF4-FFF2-40B4-BE49-F238E27FC236}">
                <a16:creationId xmlns:a16="http://schemas.microsoft.com/office/drawing/2014/main" id="{3C799717-8972-D289-FB79-F012255200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2684" y="3829990"/>
            <a:ext cx="5679711" cy="32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8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51FF-8957-FC15-C523-96F3A1DB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EB569C-DB26-E5D6-8B37-0A8035B5BBD4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F51CCB-FFE3-1FE1-D1BE-E8580D88C42B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AC0EC5-3953-0DFE-709A-2B828C639CB0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ABA6DC0-D190-4B8F-C438-CE504740043D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CE04F24-AA3A-4E8C-58AF-CB783CABD8FC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54CE707-0B88-7044-67C0-D692C1957094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B01E352-8900-ECB2-A297-4450FFAD22BD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AE0FC99-6C03-740F-C17B-6E3DAC44B4A1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2985CC2-14FB-7340-0324-9F8620A7EE18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B3F3A6F-AF3C-46DD-3D89-F149440D514D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5DC1D7F-FED5-C9B5-C205-C01F2F87CE6A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E853716-1E83-22A2-14B0-5E8CA748DD81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7C5F641-6C17-2765-6FBF-42131B242459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B005487-9B6C-6B37-96B6-3389207F50FC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D071F86-0E01-79A3-349D-D54B197C3530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7E2DD-9DC0-3A20-EF09-4B9F4E21A104}"/>
              </a:ext>
            </a:extLst>
          </p:cNvPr>
          <p:cNvSpPr txBox="1"/>
          <p:nvPr/>
        </p:nvSpPr>
        <p:spPr>
          <a:xfrm>
            <a:off x="3893006" y="4316349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왜 게임인가</a:t>
            </a:r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?</a:t>
            </a:r>
            <a:endParaRPr lang="ko-KR" altLang="en-US" sz="6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651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A3AB-FFC2-9B20-076D-D3335910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274443-4409-5622-2043-085E2A5BA465}"/>
              </a:ext>
            </a:extLst>
          </p:cNvPr>
          <p:cNvSpPr/>
          <p:nvPr/>
        </p:nvSpPr>
        <p:spPr>
          <a:xfrm flipH="1">
            <a:off x="101967" y="6424005"/>
            <a:ext cx="219269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5C77E9-1015-5808-CCE1-05509134149B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08794F-26B7-A5FB-F8E9-64467C20F572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298B462-B55E-C4B9-3FC4-42D268FCB012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18D1909-D4B1-0BB0-09F2-F09F938E6AB4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9F8A3D4-1488-CABD-0A45-BD43F07F544D}"/>
              </a:ext>
            </a:extLst>
          </p:cNvPr>
          <p:cNvSpPr/>
          <p:nvPr/>
        </p:nvSpPr>
        <p:spPr>
          <a:xfrm>
            <a:off x="16797769" y="6328459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F2C7EC6-C3CF-C810-508A-D0C8D065FBD7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9A6C229-1474-7087-6033-89C97B123C9F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24A653-47E8-83C7-6B7F-1F22D8392B97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B551444-04FF-7E88-FDA2-F3556F0050A3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8ACF0F4-F981-7B42-093E-F23A4F66032A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5F363AE-D1C6-8D16-82A0-7B22E563CA65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D94D675-B655-B7D8-E97B-7EE615043C93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0255853-995C-07A7-F512-5B786BDEFE1B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BA61628-7C30-891F-04E3-4373672804D3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0A11E-CE5E-30DC-2E4C-A7613FF1A67B}"/>
              </a:ext>
            </a:extLst>
          </p:cNvPr>
          <p:cNvSpPr txBox="1"/>
          <p:nvPr/>
        </p:nvSpPr>
        <p:spPr>
          <a:xfrm>
            <a:off x="4159232" y="2811823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AI agent</a:t>
            </a:r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의 자율성과 확장성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37A9D4-E2B0-C0D3-4DE8-F164664604E1}"/>
              </a:ext>
            </a:extLst>
          </p:cNvPr>
          <p:cNvSpPr txBox="1"/>
          <p:nvPr/>
        </p:nvSpPr>
        <p:spPr>
          <a:xfrm>
            <a:off x="5980865" y="6206595"/>
            <a:ext cx="6326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게임의 </a:t>
            </a:r>
            <a:r>
              <a:rPr lang="ko-KR" altLang="en-US" sz="6000" err="1">
                <a:latin typeface="Neo둥근모 Pro" panose="020B0600000101010101" charset="-127"/>
                <a:ea typeface="Neo둥근모 Pro" panose="020B0600000101010101" charset="-127"/>
              </a:rPr>
              <a:t>체험성</a:t>
            </a:r>
            <a:endParaRPr lang="ko-KR" altLang="en-US" sz="6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9EA99-9A44-51EF-2EB3-C8D1D59DD1F2}"/>
              </a:ext>
            </a:extLst>
          </p:cNvPr>
          <p:cNvSpPr txBox="1"/>
          <p:nvPr/>
        </p:nvSpPr>
        <p:spPr>
          <a:xfrm>
            <a:off x="5980865" y="4399645"/>
            <a:ext cx="6326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그리고</a:t>
            </a:r>
          </a:p>
        </p:txBody>
      </p:sp>
    </p:spTree>
    <p:extLst>
      <p:ext uri="{BB962C8B-B14F-4D97-AF65-F5344CB8AC3E}">
        <p14:creationId xmlns:p14="http://schemas.microsoft.com/office/powerpoint/2010/main" val="262851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709A1-322E-074A-9F2D-EB9CEBE0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1AA5BF-2A92-CC27-67CC-C609C519C7F4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4B0D87-A4B7-C0F3-83EC-B2138606400A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CD449A5-564A-295C-5929-2E298A17EDC4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F7D1D95-6F48-AD58-8608-B4E1E6A74A85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1B05FFE-A42A-9324-F93D-5B3E32A40DE9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97892E6-3A39-3AD4-F1DC-05E4B95BE377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40FD764-817B-99C3-1145-3FEC4ED086EE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A3E58FD-341E-6F3B-6703-A0959F6B8C50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2A02305-2095-633D-4B0A-4C52A6762CE9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6D828C3-06BC-D740-BA96-F2E993BEBE87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16C1EDA-B133-7C6F-3D3A-77F3D80EEBEF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B5BCDD1-909C-91D3-27FA-173C97FE9AE1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500B1D1-45B5-0FA7-DB69-613C07068C9F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726BE86-F8A9-0986-AFFE-73B80DA623E9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78C83AF-6E09-E6E2-A8A1-DA2CBFF03159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A0484D-09F0-43B2-4632-002226071252}"/>
              </a:ext>
            </a:extLst>
          </p:cNvPr>
          <p:cNvSpPr txBox="1"/>
          <p:nvPr/>
        </p:nvSpPr>
        <p:spPr>
          <a:xfrm>
            <a:off x="2135341" y="1218257"/>
            <a:ext cx="62428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latin typeface="Neo둥근모 Pro" panose="020B0600000101010101" charset="-127"/>
                <a:ea typeface="Neo둥근모 Pro" panose="020B0600000101010101" charset="-127"/>
              </a:rPr>
              <a:t>비디오 게임의 </a:t>
            </a:r>
            <a:r>
              <a:rPr lang="en-US" altLang="ko-KR" sz="400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4000">
                <a:latin typeface="Neo둥근모 Pro" panose="020B0600000101010101" charset="-127"/>
                <a:ea typeface="Neo둥근모 Pro" panose="020B0600000101010101" charset="-127"/>
              </a:rPr>
              <a:t>에이전트 적용 예시</a:t>
            </a:r>
            <a:endParaRPr lang="en-US" altLang="ko-KR" sz="4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1D91F-963A-FBBA-2418-AC99151CD899}"/>
              </a:ext>
            </a:extLst>
          </p:cNvPr>
          <p:cNvSpPr txBox="1"/>
          <p:nvPr/>
        </p:nvSpPr>
        <p:spPr>
          <a:xfrm>
            <a:off x="2968303" y="3092198"/>
            <a:ext cx="6326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Arc Raiders</a:t>
            </a:r>
            <a:endParaRPr lang="ko-KR" altLang="en-US" sz="6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2050" name="Picture 2" descr="넥슨 '아크 레이더스' 출시 초읽기 ... 금주 워밍업 &lt; 온라인 &lt; 게임종합 &lt; 기사본문 - 더게임스데일리">
            <a:extLst>
              <a:ext uri="{FF2B5EF4-FFF2-40B4-BE49-F238E27FC236}">
                <a16:creationId xmlns:a16="http://schemas.microsoft.com/office/drawing/2014/main" id="{426950FD-3319-9EBB-1FE3-D33F67988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908" y="4408964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27BF190-CCAB-4EEC-FB4B-2E5666B59A54}"/>
              </a:ext>
            </a:extLst>
          </p:cNvPr>
          <p:cNvSpPr txBox="1"/>
          <p:nvPr/>
        </p:nvSpPr>
        <p:spPr>
          <a:xfrm>
            <a:off x="8549798" y="4249300"/>
            <a:ext cx="73477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Embark Studios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가 개발한 </a:t>
            </a:r>
            <a:r>
              <a:rPr lang="en-US" altLang="ko-KR" sz="4000" b="1" dirty="0" err="1">
                <a:latin typeface="Neo둥근모 Pro" panose="02010503060201040203" pitchFamily="2" charset="-127"/>
                <a:ea typeface="Neo둥근모 Pro" panose="02010503060201040203" pitchFamily="2" charset="-127"/>
              </a:rPr>
              <a:t>PvPvE</a:t>
            </a:r>
            <a:r>
              <a:rPr lang="en-US" altLang="ko-KR" sz="4000" b="1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(Player vs Player vs Environment)</a:t>
            </a:r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 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장르의 서바이벌 슈팅 게임</a:t>
            </a:r>
          </a:p>
        </p:txBody>
      </p:sp>
    </p:spTree>
    <p:extLst>
      <p:ext uri="{BB962C8B-B14F-4D97-AF65-F5344CB8AC3E}">
        <p14:creationId xmlns:p14="http://schemas.microsoft.com/office/powerpoint/2010/main" val="317928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B299-1356-1FEF-3382-0724FDDE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EA0280-DB25-0391-BB8E-17562F669100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F9D3380-5A11-2878-49A2-DF6AA07FCA62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C18B573-A70B-8A0E-F978-FF1AEE99241D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88638F9-92D3-C4E2-C1A5-F701BE5D56C3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30CD8A9-4063-3CCE-AAE6-12AA0035C482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AF6F11F-3D94-1981-40BC-67590C8AC291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06A31F-2D37-F652-C604-968BD104DF9C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75F0533-0F1F-3E59-5DB0-85C12B3811A0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E79CF1-F01F-3F6C-B9CD-97BD72362D50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519BB19-D962-8139-6768-205A24186CB9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9D3840C-3DF4-0C9D-5735-6AB257AB1E7A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932C1ED-7591-E707-58AE-D366C9F46BAF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4386B0F-016B-5B4F-304C-65EDAC69F326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C9197A8-2D87-58DD-DD0D-16F97BF26E64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D9D7680-C82E-0AF9-FCCA-148483DB73EA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E47F5-3065-BC70-2349-6185A9EE3794}"/>
              </a:ext>
            </a:extLst>
          </p:cNvPr>
          <p:cNvSpPr txBox="1"/>
          <p:nvPr/>
        </p:nvSpPr>
        <p:spPr>
          <a:xfrm>
            <a:off x="2410313" y="1432356"/>
            <a:ext cx="6326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Neo둥근모 Pro" panose="020B0600000101010101" charset="-127"/>
                <a:ea typeface="Neo둥근모 Pro" panose="020B0600000101010101" charset="-127"/>
              </a:rPr>
              <a:t>Arc Raiders                    </a:t>
            </a:r>
            <a:endParaRPr lang="ko-KR" altLang="en-US" sz="4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612449-2D4E-A47B-F49D-6ED8C8120269}"/>
              </a:ext>
            </a:extLst>
          </p:cNvPr>
          <p:cNvSpPr txBox="1"/>
          <p:nvPr/>
        </p:nvSpPr>
        <p:spPr>
          <a:xfrm>
            <a:off x="5430518" y="7724253"/>
            <a:ext cx="6326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https://youtube.com/shorts/4ZFS19PDm_w?si=y_bireiq2JEIs5U4</a:t>
            </a:r>
            <a:r>
              <a:rPr lang="en-US" altLang="ko-KR" sz="20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  <a:endParaRPr lang="ko-KR" altLang="en-US" sz="2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19" name="온라인 미디어 18" title="유저 죽이는 법을 ai에게 학습시킨 게임">
            <a:hlinkClick r:id="" action="ppaction://media"/>
            <a:extLst>
              <a:ext uri="{FF2B5EF4-FFF2-40B4-BE49-F238E27FC236}">
                <a16:creationId xmlns:a16="http://schemas.microsoft.com/office/drawing/2014/main" id="{8BA86EED-D78C-3782-0E76-A03FEBAC2C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1999659" y="2136987"/>
            <a:ext cx="3534919" cy="625683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62CC2E-D0C2-C6AB-EF47-631C04AD3D47}"/>
              </a:ext>
            </a:extLst>
          </p:cNvPr>
          <p:cNvSpPr txBox="1"/>
          <p:nvPr/>
        </p:nvSpPr>
        <p:spPr>
          <a:xfrm>
            <a:off x="2388819" y="2994336"/>
            <a:ext cx="81838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강화학습을 사용한 </a:t>
            </a:r>
            <a:r>
              <a:rPr lang="en-US" altLang="ko-KR" sz="4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학습</a:t>
            </a:r>
            <a:endParaRPr lang="en-US" altLang="ko-KR" sz="40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가장 효율적인 방법을 찾음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5F893-9D33-D935-CFD8-A18331883B2B}"/>
              </a:ext>
            </a:extLst>
          </p:cNvPr>
          <p:cNvSpPr txBox="1"/>
          <p:nvPr/>
        </p:nvSpPr>
        <p:spPr>
          <a:xfrm>
            <a:off x="2342040" y="4882065"/>
            <a:ext cx="93464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solidFill>
                  <a:srgbClr val="FF0000"/>
                </a:solidFill>
                <a:latin typeface="Neo둥근모 Pro" panose="020B0600000101010101" charset="-127"/>
                <a:ea typeface="Neo둥근모 Pro" panose="020B0600000101010101" charset="-127"/>
              </a:rPr>
              <a:t>고정된 패턴이 아닌</a:t>
            </a:r>
            <a:r>
              <a:rPr lang="en-US" altLang="ko-KR" sz="5000" dirty="0">
                <a:solidFill>
                  <a:srgbClr val="FF0000"/>
                </a:solidFill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5000" dirty="0">
                <a:solidFill>
                  <a:srgbClr val="FF0000"/>
                </a:solidFill>
                <a:latin typeface="Neo둥근모 Pro" panose="020B0600000101010101" charset="-127"/>
                <a:ea typeface="Neo둥근모 Pro" panose="020B0600000101010101" charset="-127"/>
              </a:rPr>
              <a:t>예측 불가능한 위협을 준다</a:t>
            </a:r>
            <a:r>
              <a:rPr lang="en-US" altLang="ko-KR" sz="5000" dirty="0">
                <a:solidFill>
                  <a:srgbClr val="FF0000"/>
                </a:solidFill>
                <a:latin typeface="Neo둥근모 Pro" panose="020B0600000101010101" charset="-127"/>
                <a:ea typeface="Neo둥근모 Pro" panose="020B0600000101010101" charset="-127"/>
              </a:rPr>
              <a:t>!</a:t>
            </a:r>
            <a:endParaRPr lang="ko-KR" altLang="en-US" sz="5000" dirty="0">
              <a:solidFill>
                <a:srgbClr val="FF0000"/>
              </a:solidFill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8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8150-B50E-18D1-2D78-EFCA6B741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377B37-E8F4-51DE-6396-35D3A72F142E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FCDD12-A750-6F12-7380-D6A854851933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E42CFE-6A73-7432-F3AE-93D376EDDDE9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C2E0B88-BEBA-2F3D-9E54-1972A20C755A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1AD7D60-2B74-1D61-D66C-5849BDAF654A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7A74FB5-1956-E438-37E5-4FF858D351B2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82704CB-0E50-8200-381A-E3139B61A29A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E2C533C-348B-2F84-3541-0253EAA0D3BF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8566655-C779-500D-329B-76E4E12710D9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0D2E6CB-9B61-A82D-53F2-057FB7EE10DF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986CDB2-74F7-2C15-E5FC-EE5C5DAA231E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9EABD20-C290-E0FA-2CD6-9013C08C7A72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32DDF90-A505-5272-E18F-24FD8BE85968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9B88B04-7E6F-02E2-8013-75021C345E42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3F835B8-2385-DE2C-C9CF-1B7023DDF378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CABBE1-34C6-D74F-9DA0-1AB1D67CF8A5}"/>
              </a:ext>
            </a:extLst>
          </p:cNvPr>
          <p:cNvSpPr txBox="1"/>
          <p:nvPr/>
        </p:nvSpPr>
        <p:spPr>
          <a:xfrm>
            <a:off x="2616907" y="1756296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Mimesis(</a:t>
            </a:r>
            <a:r>
              <a:rPr lang="ko-KR" altLang="en-US" sz="6000" err="1">
                <a:latin typeface="Neo둥근모 Pro" panose="020B0600000101010101" charset="-127"/>
                <a:ea typeface="Neo둥근모 Pro" panose="020B0600000101010101" charset="-127"/>
              </a:rPr>
              <a:t>미메시스</a:t>
            </a:r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)</a:t>
            </a:r>
          </a:p>
        </p:txBody>
      </p:sp>
      <p:pic>
        <p:nvPicPr>
          <p:cNvPr id="4098" name="Picture 2" descr="크래프톤 렐루게임즈, 신작 '미메시스' 비공개 베타 테스트 참가자 모집 &lt; 게임 &lt; 산업경제 &lt; 기사본문 - 소비자경제">
            <a:extLst>
              <a:ext uri="{FF2B5EF4-FFF2-40B4-BE49-F238E27FC236}">
                <a16:creationId xmlns:a16="http://schemas.microsoft.com/office/drawing/2014/main" id="{E0904516-E06A-AC00-ACF7-8D59997CD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815" y="3667804"/>
            <a:ext cx="5717486" cy="321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7D239D0-A77C-F724-F26F-5A8A926E40A0}"/>
              </a:ext>
            </a:extLst>
          </p:cNvPr>
          <p:cNvSpPr txBox="1"/>
          <p:nvPr/>
        </p:nvSpPr>
        <p:spPr>
          <a:xfrm>
            <a:off x="9069580" y="3709685"/>
            <a:ext cx="73477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 err="1">
                <a:latin typeface="Neo둥근모 Pro" panose="02010503060201040203" pitchFamily="2" charset="-127"/>
                <a:ea typeface="Neo둥근모 Pro" panose="02010503060201040203" pitchFamily="2" charset="-127"/>
              </a:rPr>
              <a:t>크래프톤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 산하의 </a:t>
            </a:r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AI 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전문 개발 스튜디오인 </a:t>
            </a:r>
            <a:r>
              <a:rPr lang="ko-KR" altLang="en-US" sz="4000" dirty="0" err="1">
                <a:latin typeface="Neo둥근모 Pro" panose="02010503060201040203" pitchFamily="2" charset="-127"/>
                <a:ea typeface="Neo둥근모 Pro" panose="02010503060201040203" pitchFamily="2" charset="-127"/>
              </a:rPr>
              <a:t>렐루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 게임즈</a:t>
            </a:r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(</a:t>
            </a:r>
            <a:r>
              <a:rPr lang="en-US" altLang="ko-KR" sz="4000" dirty="0" err="1">
                <a:latin typeface="Neo둥근모 Pro" panose="02010503060201040203" pitchFamily="2" charset="-127"/>
                <a:ea typeface="Neo둥근모 Pro" panose="02010503060201040203" pitchFamily="2" charset="-127"/>
              </a:rPr>
              <a:t>ReLU</a:t>
            </a:r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 Games)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가 개발한 </a:t>
            </a:r>
            <a:r>
              <a:rPr lang="en-US" altLang="ko-KR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4</a:t>
            </a:r>
            <a:r>
              <a:rPr lang="ko-KR" altLang="en-US" sz="4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인 협동 서바이벌 공포 게임</a:t>
            </a:r>
          </a:p>
        </p:txBody>
      </p:sp>
    </p:spTree>
    <p:extLst>
      <p:ext uri="{BB962C8B-B14F-4D97-AF65-F5344CB8AC3E}">
        <p14:creationId xmlns:p14="http://schemas.microsoft.com/office/powerpoint/2010/main" val="292081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30908-8CF2-C5D8-BF31-80522CD0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527090-FA9B-B930-9F7C-9683F7DAC3A2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6B78DB9-7917-3037-24C4-50DA66FC01ED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DD3DDC2-136B-2086-FA63-A43369355663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4B20322-9FBE-2AF5-FE0F-CFE857CD3383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F23A010-C176-4D8A-0650-F3D99F673CA5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E78FF62-21A4-2543-7208-41463838566D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F148535-258D-EE1A-920F-5B5591BD28EB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648788A-FFAB-B052-F210-1FB42A04A29D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A53CB16-DD93-5428-E438-1B549FB2611D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0BDDFE8-4F35-F057-3C81-2E27490C0F64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01D9A70-03FC-92F1-C9BE-2BC5DCE6E754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2CC82C1-AE2B-3623-524F-D48577E9813B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80B17DE-1AD9-4FF6-23AF-860F5C09F28E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3716529-87D9-1DEA-401B-39A25B044D52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264992B-3E59-5925-F842-DD71F6A8F411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09FC93-FB00-7F6E-49F7-3A82FEF1E6A3}"/>
              </a:ext>
            </a:extLst>
          </p:cNvPr>
          <p:cNvSpPr txBox="1"/>
          <p:nvPr/>
        </p:nvSpPr>
        <p:spPr>
          <a:xfrm>
            <a:off x="2616907" y="1756296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Mimesis(</a:t>
            </a:r>
            <a:r>
              <a:rPr lang="ko-KR" altLang="en-US" sz="6000" err="1">
                <a:latin typeface="Neo둥근모 Pro" panose="020B0600000101010101" charset="-127"/>
                <a:ea typeface="Neo둥근모 Pro" panose="020B0600000101010101" charset="-127"/>
              </a:rPr>
              <a:t>미메시스</a:t>
            </a:r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E8C46-09FB-5856-2AD9-E3295EB4580A}"/>
              </a:ext>
            </a:extLst>
          </p:cNvPr>
          <p:cNvSpPr txBox="1"/>
          <p:nvPr/>
        </p:nvSpPr>
        <p:spPr>
          <a:xfrm>
            <a:off x="2446586" y="3052186"/>
            <a:ext cx="115465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실시간 음성 복제 및 맥락을 파악하는 </a:t>
            </a:r>
            <a:r>
              <a:rPr lang="en-US" altLang="ko-KR" sz="3000" dirty="0">
                <a:latin typeface="Neo둥근모 Pro" panose="02010503060201040203" pitchFamily="2" charset="-127"/>
                <a:ea typeface="Neo둥근모 Pro" panose="02010503060201040203" pitchFamily="2" charset="-127"/>
              </a:rPr>
              <a:t>AI</a:t>
            </a:r>
            <a:endParaRPr lang="ko-KR" altLang="en-US" sz="3000" dirty="0">
              <a:latin typeface="Neo둥근모 Pro" panose="02010503060201040203" pitchFamily="2" charset="-127"/>
              <a:ea typeface="Neo둥근모 Pro" panose="02010503060201040203" pitchFamily="2" charset="-127"/>
            </a:endParaRPr>
          </a:p>
        </p:txBody>
      </p:sp>
      <p:pic>
        <p:nvPicPr>
          <p:cNvPr id="1026" name="Picture 2" descr="음성 인식 - 무료 과학 기술개 아이콘">
            <a:extLst>
              <a:ext uri="{FF2B5EF4-FFF2-40B4-BE49-F238E27FC236}">
                <a16:creationId xmlns:a16="http://schemas.microsoft.com/office/drawing/2014/main" id="{85C01C3A-EE35-C0FE-92C6-3EF6815F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108" y="4541953"/>
            <a:ext cx="2676762" cy="267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세그먼트 경로 - 무료 지도 및 깃발개 아이콘">
            <a:extLst>
              <a:ext uri="{FF2B5EF4-FFF2-40B4-BE49-F238E27FC236}">
                <a16:creationId xmlns:a16="http://schemas.microsoft.com/office/drawing/2014/main" id="{239384D6-F86D-7E4F-A9A9-ACC43BA9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153" y="4273308"/>
            <a:ext cx="2945407" cy="294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 favorite spiders🕷">
            <a:extLst>
              <a:ext uri="{FF2B5EF4-FFF2-40B4-BE49-F238E27FC236}">
                <a16:creationId xmlns:a16="http://schemas.microsoft.com/office/drawing/2014/main" id="{117A0B29-9BAD-C76D-53F2-37050D568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985" y="2929773"/>
            <a:ext cx="5230715" cy="406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0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4AFCB-F0B8-5108-48DD-C48840B2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984DBD-76D3-D74F-6482-086A5C8219CD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6C34AA-71E1-5273-FD93-FEB358FC432B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661A67C-1439-D182-70A6-74AB6B378801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A4AEA3-3E2D-EB9A-F58C-19796FA4A1E8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BC1C007-6D60-E39B-6FD1-544D3A450C26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6DE8C1B-2593-C94C-5EE0-2762E7F36A67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DDDA1F6-FA47-97EF-4B04-C2CF4F32EE70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FD5FB3E-4979-19FA-351F-5AE90D081290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E109233-D9EE-364E-A516-DF58A1AFFDF0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D7A6293-3A83-5C78-6699-A7A19F34CA9A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AB57808-5D5D-560B-3926-5D44926E8CAB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1C80E7C-70A6-BD06-A9A7-C4D76363D316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3A6FA9C-3A30-EC51-12DF-332DC30DFD31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318D5B4-1A7D-5BA1-F5AA-A861A5435D21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F2170EB-C9F0-C1EE-2F93-168CE56013C1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8CC7F-7C9F-D303-5096-B428C3C6D528}"/>
              </a:ext>
            </a:extLst>
          </p:cNvPr>
          <p:cNvSpPr txBox="1"/>
          <p:nvPr/>
        </p:nvSpPr>
        <p:spPr>
          <a:xfrm>
            <a:off x="2537679" y="1303067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게임 개발에서의 </a:t>
            </a:r>
            <a:r>
              <a:rPr lang="en-US" altLang="ko-KR" sz="6000" dirty="0">
                <a:latin typeface="Neo둥근모 Pro" panose="020B0600000101010101" charset="-127"/>
                <a:ea typeface="Neo둥근모 Pro" panose="020B0600000101010101" charset="-127"/>
              </a:rPr>
              <a:t>AI</a:t>
            </a:r>
            <a:r>
              <a:rPr lang="en-US" altLang="ko-KR" sz="600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  <a:r>
              <a:rPr lang="ko-KR" altLang="en-US" sz="6000">
                <a:latin typeface="Neo둥근모 Pro" panose="020B0600000101010101" charset="-127"/>
                <a:ea typeface="Neo둥근모 Pro" panose="020B0600000101010101" charset="-127"/>
              </a:rPr>
              <a:t>에이전트</a:t>
            </a:r>
            <a:endParaRPr lang="en-US" altLang="ko-KR" sz="6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1026" name="Picture 2" descr="게임 개발에서 AI 에이전트를 사용하는 방법">
            <a:extLst>
              <a:ext uri="{FF2B5EF4-FFF2-40B4-BE49-F238E27FC236}">
                <a16:creationId xmlns:a16="http://schemas.microsoft.com/office/drawing/2014/main" id="{7C9033E0-C441-2D07-CF0B-76D7B9D8A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49" y="2694027"/>
            <a:ext cx="5887399" cy="53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A5BA25-727F-4141-D688-BD800B3CC513}"/>
              </a:ext>
            </a:extLst>
          </p:cNvPr>
          <p:cNvSpPr txBox="1"/>
          <p:nvPr/>
        </p:nvSpPr>
        <p:spPr>
          <a:xfrm>
            <a:off x="8823626" y="2694027"/>
            <a:ext cx="7086759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콘텐츠 최적화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44%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동적 </a:t>
            </a:r>
            <a:r>
              <a:rPr lang="ko-KR" altLang="en-US" sz="3000" b="0" i="0" dirty="0" err="1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밸런싱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38%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 err="1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인게임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 코칭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·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튜토리얼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38% 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절차적 세계 생성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37%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자동 </a:t>
            </a:r>
            <a:r>
              <a:rPr lang="ko-KR" altLang="en-US" sz="3000" b="0" i="0" dirty="0" err="1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모더레이션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37% 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적응형 난이도 조정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36%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자동 테스팅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·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버그 리포트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35%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고급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NPC </a:t>
            </a:r>
            <a:r>
              <a:rPr lang="ko-KR" altLang="en-US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행동 </a:t>
            </a:r>
            <a:r>
              <a:rPr lang="en-US" altLang="ko-KR" sz="3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34%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2000" b="0" i="0" dirty="0" err="1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Etc</a:t>
            </a:r>
            <a:r>
              <a:rPr lang="en-US" altLang="ko-KR" sz="2000" b="0" i="0" dirty="0">
                <a:solidFill>
                  <a:srgbClr val="121212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…</a:t>
            </a:r>
          </a:p>
          <a:p>
            <a:pPr>
              <a:buNone/>
            </a:pP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131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62BE-52B9-4482-687E-62AAA5D6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D7ACB3-8CEC-F34D-16EE-58E605F6F8DA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7D2312-4E29-3BFD-AEA9-1E25685183A4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BFDA6D-BAA4-A71A-CE63-EF1DC1E1A211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00C23BF-4BC8-4F6C-4E3B-938972063CE1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F797D5-8997-A9FD-C04D-F6476B140C31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000E416-3F8D-F354-B087-11E8096EFCA0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839C1DF-42C0-7BC4-FD51-486F6E894D91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C9EA46D-8CDD-EBB0-1069-33E01D83C12F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3A9C1AB-31AD-3B84-E1F9-1B94BBED6737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DBF2F16-40B8-53E1-5E80-B92D761343A0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A0218FE-F4F3-D1FF-3BC4-0A311E6D49C7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FC2015A-F7AB-C7B3-35B6-C371B0A042BF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32402EE-D44C-69F2-4DA0-3FFDC12961E5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141283-CEA2-0C50-61C9-2C0779120008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3D3BEDD-E524-7233-F64E-A7C02E51A415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D1561-F31B-DF5B-244B-033B4601D545}"/>
              </a:ext>
            </a:extLst>
          </p:cNvPr>
          <p:cNvSpPr txBox="1"/>
          <p:nvPr/>
        </p:nvSpPr>
        <p:spPr>
          <a:xfrm>
            <a:off x="2537679" y="1733414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게임 개발에서의 </a:t>
            </a:r>
            <a:r>
              <a:rPr lang="en-US" altLang="ko-KR" sz="6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에이전트</a:t>
            </a:r>
            <a:endParaRPr lang="en-US" altLang="ko-KR" sz="6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2050" name="Picture 2" descr="NPC가 수익에 미치는 영향">
            <a:extLst>
              <a:ext uri="{FF2B5EF4-FFF2-40B4-BE49-F238E27FC236}">
                <a16:creationId xmlns:a16="http://schemas.microsoft.com/office/drawing/2014/main" id="{FBC88D4E-5D11-E889-21A0-0032155F6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655" y="4048196"/>
            <a:ext cx="9387608" cy="454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E5DB45-18A2-F8F1-D779-9D395FAAA813}"/>
              </a:ext>
            </a:extLst>
          </p:cNvPr>
          <p:cNvSpPr txBox="1"/>
          <p:nvPr/>
        </p:nvSpPr>
        <p:spPr>
          <a:xfrm>
            <a:off x="2616907" y="3044693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0" i="0" dirty="0">
                <a:solidFill>
                  <a:srgbClr val="212529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AI </a:t>
            </a:r>
            <a:r>
              <a:rPr lang="ko-KR" altLang="en-US" sz="4000" b="0" i="0" dirty="0">
                <a:solidFill>
                  <a:srgbClr val="212529"/>
                </a:solidFill>
                <a:effectLst/>
                <a:latin typeface="Neo둥근모 Pro" panose="02010503060201040203" pitchFamily="2" charset="-127"/>
                <a:ea typeface="Neo둥근모 Pro" panose="02010503060201040203" pitchFamily="2" charset="-127"/>
              </a:rPr>
              <a:t>에이전트가 매출에 미치는 영향</a:t>
            </a:r>
            <a:endParaRPr lang="en-US" altLang="ko-KR" sz="4000" dirty="0">
              <a:latin typeface="Neo둥근모 Pro" panose="02010503060201040203" pitchFamily="2" charset="-127"/>
              <a:ea typeface="Neo둥근모 Pro" panose="020105030602010402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082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A291A-76B4-B049-CB86-238174AE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8F58A4-494A-5C30-DFB7-9245AED14B0E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B16B4F-2CC2-B7E9-8368-687A5EADDA65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0EB32C3-6E92-EEF2-0666-8C20C5A1C5CF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2543275-714D-A483-74D6-8AFE702040B6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5DB1297-1170-0A78-0F25-B824F0FCEB09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1939D9C-181A-F688-5794-3C2200D99991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86F100D-E0AB-19D3-61ED-7EA6CDA6DAC1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BA8C293-2EF0-2DEA-7890-51A070C22F02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CDB9CE7-B385-331A-C380-B7D6917222D1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0EC8528-A907-369A-B83C-6AE37D790C4D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057F78D-35F6-6333-CB34-196FC351AD5A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0E5BD41-FADD-FF7C-AA43-0390943F0A37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A7AFBA7-6A43-C0E8-4DB2-EB187D873FF2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884F69-38AE-46DB-3E9C-B4F542C8A242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03638CD-5B84-5D72-ACA6-3916DD8EC4AD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6BD0EA-E35C-761D-1E71-A474567E3105}"/>
              </a:ext>
            </a:extLst>
          </p:cNvPr>
          <p:cNvSpPr txBox="1"/>
          <p:nvPr/>
        </p:nvSpPr>
        <p:spPr>
          <a:xfrm>
            <a:off x="2537679" y="1848480"/>
            <a:ext cx="105019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 err="1">
                <a:latin typeface="Neo둥근모 Pro" panose="020B0600000101010101" charset="-127"/>
                <a:ea typeface="Neo둥근모 Pro" panose="020B0600000101010101" charset="-127"/>
              </a:rPr>
              <a:t>테스터로서의</a:t>
            </a:r>
            <a:r>
              <a:rPr lang="ko-KR" altLang="en-US" sz="50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  <a:r>
              <a:rPr lang="en-US" altLang="ko-KR" sz="5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5000" dirty="0">
                <a:latin typeface="Neo둥근모 Pro" panose="020B0600000101010101" charset="-127"/>
                <a:ea typeface="Neo둥근모 Pro" panose="020B0600000101010101" charset="-127"/>
              </a:rPr>
              <a:t>에이전트</a:t>
            </a:r>
            <a:endParaRPr lang="en-US" altLang="ko-KR" sz="5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76045D9-B595-18B7-98D0-5FD7634658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181" y="3137512"/>
            <a:ext cx="5560445" cy="53336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1EE3530-3CDE-C23F-0A11-851E2B446C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0626" y="3137512"/>
            <a:ext cx="4753223" cy="39820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8382DA-84F6-18D3-E21F-D162BA752508}"/>
              </a:ext>
            </a:extLst>
          </p:cNvPr>
          <p:cNvSpPr txBox="1"/>
          <p:nvPr/>
        </p:nvSpPr>
        <p:spPr>
          <a:xfrm>
            <a:off x="2841373" y="7493420"/>
            <a:ext cx="61531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500" dirty="0">
                <a:effectLst/>
                <a:latin typeface="Neo둥근모 Pro" panose="020B0600000101010101" charset="-127"/>
                <a:ea typeface="Neo둥근모 Pro" panose="020B0600000101010101" charset="-127"/>
                <a:cs typeface="Times New Roman" panose="02020603050405020304" pitchFamily="18" charset="0"/>
              </a:rPr>
              <a:t>자동으로 오류와 성능 문제를 찾아</a:t>
            </a:r>
            <a:r>
              <a:rPr lang="ko-KR" altLang="en-US" sz="3500" dirty="0">
                <a:effectLst/>
                <a:latin typeface="Neo둥근모 Pro" panose="020B0600000101010101" charset="-127"/>
                <a:ea typeface="Neo둥근모 Pro" panose="020B0600000101010101" charset="-127"/>
                <a:cs typeface="Times New Roman" panose="02020603050405020304" pitchFamily="18" charset="0"/>
              </a:rPr>
              <a:t>내고 게임의 난이도 조절</a:t>
            </a:r>
            <a:r>
              <a:rPr lang="en-US" altLang="ko-KR" sz="3500" dirty="0">
                <a:effectLst/>
                <a:latin typeface="Neo둥근모 Pro" panose="020B0600000101010101" charset="-127"/>
                <a:ea typeface="Neo둥근모 Pro" panose="020B0600000101010101" charset="-127"/>
                <a:cs typeface="Times New Roman" panose="02020603050405020304" pitchFamily="18" charset="0"/>
              </a:rPr>
              <a:t>. </a:t>
            </a:r>
            <a:endParaRPr lang="ko-KR" altLang="en-US" sz="35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7629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9EDF-B65E-1867-240E-23D48F78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66CC32-AA59-3BF3-8F6E-623D0C29609F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2EA8438-C935-0BE6-3D57-910781486E86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AF94ACC-EA41-6541-B69B-4CC90CF9D896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014DD94-0D7A-5BD6-1B5E-E5485E10A5BA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6278F3-BC46-CA47-5787-535C0F3D9DAF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316566E-FFCA-9AA1-92F9-64DAFAF355F1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08D6571-F860-31EA-1E70-301210F593F9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16C4A09-E010-F403-5192-DC1B371E3A5E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6820DAF-D018-F27B-07CA-45A23F2FA649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622EEA3-6C6C-5273-75A7-7ED1B3FD8F52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647220-3A90-BEAB-12B4-D9E5DBB6C972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56B0BFD-4ADE-6DE0-3460-1DB3EA7C0197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19BD9B1-628B-CDE1-9C5D-50301913706A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67C536D-002A-5E33-A9E4-ABE79ED439B6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9036E1A-438D-ADD2-A949-04C92B3A9BEF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64ACE-3B8B-D5E6-B29B-16F392714E14}"/>
              </a:ext>
            </a:extLst>
          </p:cNvPr>
          <p:cNvSpPr txBox="1"/>
          <p:nvPr/>
        </p:nvSpPr>
        <p:spPr>
          <a:xfrm>
            <a:off x="9627936" y="2930097"/>
            <a:ext cx="57989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자율적으로 플레이어의 행동을 감시하고 조치</a:t>
            </a:r>
            <a:endParaRPr lang="en-US" altLang="ko-KR" sz="4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5122" name="Picture 2" descr="AI-Powered Anti-Cheat and Anti-Fraud Solutions for Gaming">
            <a:extLst>
              <a:ext uri="{FF2B5EF4-FFF2-40B4-BE49-F238E27FC236}">
                <a16:creationId xmlns:a16="http://schemas.microsoft.com/office/drawing/2014/main" id="{4520C1D7-8AC3-7602-5DB3-A7A6DE6C9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907" y="3077578"/>
            <a:ext cx="6806493" cy="451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GWP gives developers free access to AI moderation platform">
            <a:extLst>
              <a:ext uri="{FF2B5EF4-FFF2-40B4-BE49-F238E27FC236}">
                <a16:creationId xmlns:a16="http://schemas.microsoft.com/office/drawing/2014/main" id="{29B3A255-52BF-3477-1D3E-BD1990DA8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040" y="4710601"/>
            <a:ext cx="5368715" cy="301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23FC11-9F65-E1CA-690E-D0969E946BBF}"/>
              </a:ext>
            </a:extLst>
          </p:cNvPr>
          <p:cNvSpPr txBox="1"/>
          <p:nvPr/>
        </p:nvSpPr>
        <p:spPr>
          <a:xfrm>
            <a:off x="2249204" y="1644326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사이버 </a:t>
            </a:r>
            <a:r>
              <a:rPr lang="ko-KR" altLang="en-US" sz="4000" dirty="0" err="1">
                <a:latin typeface="Neo둥근모 Pro" panose="020B0600000101010101" charset="-127"/>
                <a:ea typeface="Neo둥근모 Pro" panose="020B0600000101010101" charset="-127"/>
              </a:rPr>
              <a:t>보안관으로서의</a:t>
            </a:r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  <a:r>
              <a:rPr lang="en-US" altLang="ko-KR" sz="4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에이전트</a:t>
            </a:r>
            <a:endParaRPr lang="en-US" altLang="ko-KR" sz="4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706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B8F0-5B1C-2C75-1F33-17935751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02DD54-B55F-83EC-202C-34EC50C01481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700A32-3D23-3409-B027-CB60268BD2B1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F919BA8-C7D4-CAF9-E3B3-A101E64C6B6E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025CACA-592C-B17C-EC1E-8E0A662E90D3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C8824E2-2BA2-2041-79A6-83961EB174DA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393B85-5B30-9375-89DD-156986CF39C8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1FAAD6-AC9A-FB57-FD98-32831CB8FE37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30470B3-4EF4-EBEE-2361-2055F645CE21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3833FA7-B5A2-6292-59DD-D7E5D2D4F795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D2A80D9-CC56-12D4-40A2-3A4041E5A95E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5030D4C-80A4-2DD6-7995-8EE482411E61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812CFCB-173D-6B94-99E5-C91933599F50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C570D5F-9210-D59D-F766-52756255070A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3E7E6D-1448-6A3B-3C4A-BDEE86C78803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19A21FB-623A-5908-054E-BAEF4D823D9F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10FA9D-3937-B62D-AAFA-03BC597EF24B}"/>
              </a:ext>
            </a:extLst>
          </p:cNvPr>
          <p:cNvSpPr txBox="1"/>
          <p:nvPr/>
        </p:nvSpPr>
        <p:spPr>
          <a:xfrm>
            <a:off x="2181025" y="1340075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latin typeface="Neo둥근모 Pro" panose="020B0600000101010101" charset="-127"/>
                <a:ea typeface="Neo둥근모 Pro" panose="020B0600000101010101" charset="-127"/>
              </a:rPr>
              <a:t>시사점</a:t>
            </a:r>
            <a:endParaRPr lang="en-US" altLang="ko-KR" sz="4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78644-D527-69E4-0286-8F846CA3F9E9}"/>
              </a:ext>
            </a:extLst>
          </p:cNvPr>
          <p:cNvSpPr txBox="1"/>
          <p:nvPr/>
        </p:nvSpPr>
        <p:spPr>
          <a:xfrm>
            <a:off x="2257080" y="2363588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게임과 같이 이루어진 </a:t>
            </a:r>
            <a:r>
              <a:rPr lang="en-US" altLang="ko-KR" sz="6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역사</a:t>
            </a:r>
            <a:endParaRPr lang="en-US" altLang="ko-KR" sz="6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E9A8E7-FF38-706B-548D-423953849066}"/>
              </a:ext>
            </a:extLst>
          </p:cNvPr>
          <p:cNvSpPr txBox="1"/>
          <p:nvPr/>
        </p:nvSpPr>
        <p:spPr>
          <a:xfrm>
            <a:off x="4900695" y="7800807"/>
            <a:ext cx="105019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500" dirty="0">
                <a:latin typeface="Neo둥근모 Pro" panose="020B0600000101010101" charset="-127"/>
                <a:ea typeface="Neo둥근모 Pro" panose="020B0600000101010101" charset="-127"/>
              </a:rPr>
              <a:t>패턴을 가진 </a:t>
            </a:r>
            <a:r>
              <a:rPr lang="en-US" altLang="ko-KR" sz="45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4500" dirty="0">
                <a:latin typeface="Neo둥근모 Pro" panose="020B0600000101010101" charset="-127"/>
                <a:ea typeface="Neo둥근모 Pro" panose="020B0600000101010101" charset="-127"/>
              </a:rPr>
              <a:t>에서 목적을 가진 </a:t>
            </a:r>
            <a:r>
              <a:rPr lang="en-US" altLang="ko-KR" sz="4500" dirty="0">
                <a:latin typeface="Neo둥근모 Pro" panose="020B0600000101010101" charset="-127"/>
                <a:ea typeface="Neo둥근모 Pro" panose="020B0600000101010101" charset="-127"/>
              </a:rPr>
              <a:t>AI</a:t>
            </a:r>
            <a:r>
              <a:rPr lang="ko-KR" altLang="en-US" sz="4500" dirty="0">
                <a:latin typeface="Neo둥근모 Pro" panose="020B0600000101010101" charset="-127"/>
                <a:ea typeface="Neo둥근모 Pro" panose="020B0600000101010101" charset="-127"/>
              </a:rPr>
              <a:t>로</a:t>
            </a:r>
            <a:r>
              <a:rPr lang="en-US" altLang="ko-KR" sz="4500" dirty="0">
                <a:latin typeface="Neo둥근모 Pro" panose="020B0600000101010101" charset="-127"/>
                <a:ea typeface="Neo둥근모 Pro" panose="020B0600000101010101" charset="-127"/>
              </a:rPr>
              <a:t>!</a:t>
            </a:r>
          </a:p>
        </p:txBody>
      </p:sp>
      <p:pic>
        <p:nvPicPr>
          <p:cNvPr id="2050" name="Picture 2" descr="Pac Man 의미는 하키어 퍽(puck)에서 유래했다. | devkuma">
            <a:extLst>
              <a:ext uri="{FF2B5EF4-FFF2-40B4-BE49-F238E27FC236}">
                <a16:creationId xmlns:a16="http://schemas.microsoft.com/office/drawing/2014/main" id="{A62E044B-7EC1-0133-3FD0-308B54F54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339" y="3796768"/>
            <a:ext cx="5686644" cy="341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VIDIA Korea - YouTube">
            <a:extLst>
              <a:ext uri="{FF2B5EF4-FFF2-40B4-BE49-F238E27FC236}">
                <a16:creationId xmlns:a16="http://schemas.microsoft.com/office/drawing/2014/main" id="{CF0A744F-4DB1-B61C-30FE-54042D4C5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545" y="3430791"/>
            <a:ext cx="4188441" cy="418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185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27EA-379B-A452-EB20-BE9549AD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A679A0-3010-042A-D4C2-0EF9C31ACFE5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3E5A355-60B1-655A-DC4D-80A233321091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7A20342-0574-9230-281D-44AEEAD649B2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37A0D33-4B71-F325-C454-A77BA7CE08B2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333FC5B-8677-3DEA-A014-40FF6CFBAC4F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AA4AEE9-13DC-2072-B562-650E3874F1AB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CB5F317-CCD6-9A51-F549-6B7EAED02BE7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1E62811-0933-52F7-C4A1-1E144C4CB331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38152C1-905F-6272-E599-6D90EB64C359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B779C15-97FB-CC28-7D35-A13A24B0EAE9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FB7F342-41B0-3EC3-FA44-A0D8C34FB804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932395E-6DD6-A2E4-79F3-0FD7DC880942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FA11110-2C4F-B8D5-F5D0-606C62A2E878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D90C27E-EAC4-2968-1589-FACC0EDA1E78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FFB328B-C8C8-6AF0-7B44-2227978BB1B0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13E6BF-BC41-523E-6488-B208DB4276CA}"/>
              </a:ext>
            </a:extLst>
          </p:cNvPr>
          <p:cNvSpPr txBox="1"/>
          <p:nvPr/>
        </p:nvSpPr>
        <p:spPr>
          <a:xfrm>
            <a:off x="2181025" y="1340075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Neo둥근모 Pro" panose="020B0600000101010101" charset="-127"/>
                <a:ea typeface="Neo둥근모 Pro" panose="020B0600000101010101" charset="-127"/>
              </a:rPr>
              <a:t>시사점</a:t>
            </a:r>
            <a:endParaRPr lang="en-US" altLang="ko-KR" sz="4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D5E53-F210-DFA9-6834-3DBB2947AABE}"/>
              </a:ext>
            </a:extLst>
          </p:cNvPr>
          <p:cNvSpPr txBox="1"/>
          <p:nvPr/>
        </p:nvSpPr>
        <p:spPr>
          <a:xfrm>
            <a:off x="2257080" y="2363588"/>
            <a:ext cx="105019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latin typeface="Neo둥근모 Pro" panose="020B0600000101010101" charset="-127"/>
                <a:ea typeface="Neo둥근모 Pro" panose="020B0600000101010101" charset="-127"/>
              </a:rPr>
              <a:t>실제로 옮겨가고 있는 게임 </a:t>
            </a:r>
            <a:r>
              <a:rPr lang="en-US" altLang="ko-KR" sz="5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5000" dirty="0">
                <a:latin typeface="Neo둥근모 Pro" panose="020B0600000101010101" charset="-127"/>
                <a:ea typeface="Neo둥근모 Pro" panose="020B0600000101010101" charset="-127"/>
              </a:rPr>
              <a:t>에이전트</a:t>
            </a:r>
            <a:endParaRPr lang="en-US" altLang="ko-KR" sz="50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pic>
        <p:nvPicPr>
          <p:cNvPr id="3074" name="Picture 2" descr="CMU 로봇연구소, 어린아이로부터 로봇 조작기술 배운다 &lt; 전문서비스 로봇 &lt; 로봇 &lt; 기사본문 - 로봇신문">
            <a:extLst>
              <a:ext uri="{FF2B5EF4-FFF2-40B4-BE49-F238E27FC236}">
                <a16:creationId xmlns:a16="http://schemas.microsoft.com/office/drawing/2014/main" id="{68B8D7FE-C870-2875-1EDD-FF6690CB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403" y="4271357"/>
            <a:ext cx="6652664" cy="372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자율주행차 안전한가?…'가까이 하기에는 너무 먼 자율차' &lt; AI기술 &lt; 기사본문 - AI타임스">
            <a:extLst>
              <a:ext uri="{FF2B5EF4-FFF2-40B4-BE49-F238E27FC236}">
                <a16:creationId xmlns:a16="http://schemas.microsoft.com/office/drawing/2014/main" id="{22DDAE60-F6A4-6B54-2337-50F15670A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624" y="4307832"/>
            <a:ext cx="5876280" cy="363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1E62AA-F69C-DDBC-CC8E-E40CF0C814EA}"/>
              </a:ext>
            </a:extLst>
          </p:cNvPr>
          <p:cNvSpPr txBox="1"/>
          <p:nvPr/>
        </p:nvSpPr>
        <p:spPr>
          <a:xfrm>
            <a:off x="8656838" y="3515161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Neo둥근모 Pro" panose="020B0600000101010101" charset="-127"/>
                <a:ea typeface="Neo둥근모 Pro" panose="020B0600000101010101" charset="-127"/>
              </a:rPr>
              <a:t>Sim to Real</a:t>
            </a:r>
          </a:p>
        </p:txBody>
      </p:sp>
    </p:spTree>
    <p:extLst>
      <p:ext uri="{BB962C8B-B14F-4D97-AF65-F5344CB8AC3E}">
        <p14:creationId xmlns:p14="http://schemas.microsoft.com/office/powerpoint/2010/main" val="1619480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143A-B2DA-4557-E0A4-9BF8CA3E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C2B292-F2BA-97FF-DFD5-B5488A9E818C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DB5046-0634-6618-0322-DD77FA5F1571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8B8E8B5-61A0-3466-B599-2194A74015D1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60C2F0-0634-702E-65AF-794875BFC2EE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CF568A8-029C-4EC4-9E75-843FBE3B9813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962A116-5345-CEA6-FCF1-81C0BCE2CC63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E3F5748-3762-2F9A-FABD-F49D7A00289D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35A06EC-005E-FD89-F18B-8C507A7395D2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7B273F1-E4FF-2047-63CA-9E749404FF0B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3A39AF7-4EBE-AD8D-4535-0D0109FA8886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F04FBA5-0E4F-221A-20DF-D427D8F06118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AF641F2-1510-FD7E-AB30-7412E7FEC165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8BABE4C-3231-92DD-F8F3-81D7E10B1EB7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A714C7F-781B-A634-0798-E9CECA5B5151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2E24162-FD98-AD02-E654-4603947A97B5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7B7371-F880-870F-A32E-DEEA5A4A0026}"/>
              </a:ext>
            </a:extLst>
          </p:cNvPr>
          <p:cNvSpPr txBox="1"/>
          <p:nvPr/>
        </p:nvSpPr>
        <p:spPr>
          <a:xfrm>
            <a:off x="2181025" y="1340075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latin typeface="Neo둥근모 Pro" panose="020B0600000101010101" charset="-127"/>
                <a:ea typeface="Neo둥근모 Pro" panose="020B0600000101010101" charset="-127"/>
              </a:rPr>
              <a:t>시사점</a:t>
            </a:r>
            <a:endParaRPr lang="en-US" altLang="ko-KR" sz="4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9F2E6-5D23-8B92-1DF5-BD0530D97AA5}"/>
              </a:ext>
            </a:extLst>
          </p:cNvPr>
          <p:cNvSpPr txBox="1"/>
          <p:nvPr/>
        </p:nvSpPr>
        <p:spPr>
          <a:xfrm>
            <a:off x="2257080" y="2363588"/>
            <a:ext cx="10501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어떻게 </a:t>
            </a:r>
            <a:r>
              <a:rPr lang="en-US" altLang="ko-KR" sz="6000" dirty="0">
                <a:latin typeface="Neo둥근모 Pro" panose="020B0600000101010101" charset="-127"/>
                <a:ea typeface="Neo둥근모 Pro" panose="020B0600000101010101" charset="-127"/>
              </a:rPr>
              <a:t>AI</a:t>
            </a:r>
            <a:r>
              <a:rPr lang="ko-KR" altLang="en-US" sz="6000" dirty="0">
                <a:latin typeface="Neo둥근모 Pro" panose="020B0600000101010101" charset="-127"/>
                <a:ea typeface="Neo둥근모 Pro" panose="020B0600000101010101" charset="-127"/>
              </a:rPr>
              <a:t>를 이용해야 할까</a:t>
            </a:r>
            <a:r>
              <a:rPr lang="en-US" altLang="ko-KR" sz="6000" dirty="0">
                <a:latin typeface="Neo둥근모 Pro" panose="020B0600000101010101" charset="-127"/>
                <a:ea typeface="Neo둥근모 Pro" panose="020B0600000101010101" charset="-127"/>
              </a:rPr>
              <a:t>?</a:t>
            </a:r>
          </a:p>
        </p:txBody>
      </p:sp>
      <p:pic>
        <p:nvPicPr>
          <p:cNvPr id="4098" name="Picture 2" descr="목표 vs 목적">
            <a:extLst>
              <a:ext uri="{FF2B5EF4-FFF2-40B4-BE49-F238E27FC236}">
                <a16:creationId xmlns:a16="http://schemas.microsoft.com/office/drawing/2014/main" id="{9CFF2A16-944D-E141-2FA5-16B4F499B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96" y="3777493"/>
            <a:ext cx="5531513" cy="414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단위별 효율 향상을 위한 필수 서식, 체크리스트 - 예스폼 서식 이슈 &gt; 서식 매거진">
            <a:extLst>
              <a:ext uri="{FF2B5EF4-FFF2-40B4-BE49-F238E27FC236}">
                <a16:creationId xmlns:a16="http://schemas.microsoft.com/office/drawing/2014/main" id="{6F0DAE52-09BA-55E1-2A41-6EAE7036E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692" y="3808542"/>
            <a:ext cx="6204909" cy="284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ECE92C7-6274-1BC6-4DB8-900C2B8FECA2}"/>
              </a:ext>
            </a:extLst>
          </p:cNvPr>
          <p:cNvSpPr txBox="1"/>
          <p:nvPr/>
        </p:nvSpPr>
        <p:spPr>
          <a:xfrm>
            <a:off x="8239711" y="6794465"/>
            <a:ext cx="6617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어떤 방향으로</a:t>
            </a:r>
            <a:endParaRPr lang="en-US" altLang="ko-KR" sz="6000" dirty="0">
              <a:latin typeface="둥근모꼴" panose="020B0600000101010101" charset="-127"/>
              <a:ea typeface="둥근모꼴" panose="020B0600000101010101" charset="-127"/>
              <a:cs typeface="둥근모꼴" panose="020B0600000101010101" charset="-127"/>
            </a:endParaRPr>
          </a:p>
          <a:p>
            <a:r>
              <a:rPr lang="en-US" altLang="ko-KR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 </a:t>
            </a:r>
            <a:r>
              <a:rPr lang="ko-KR" altLang="en-US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무엇에 집중할지</a:t>
            </a:r>
          </a:p>
        </p:txBody>
      </p:sp>
    </p:spTree>
    <p:extLst>
      <p:ext uri="{BB962C8B-B14F-4D97-AF65-F5344CB8AC3E}">
        <p14:creationId xmlns:p14="http://schemas.microsoft.com/office/powerpoint/2010/main" val="4234076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7B53-4991-4E85-14B1-1B572EE3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83CDAE-7D69-6A85-313F-A10120B4A069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1DBA81-B387-68F7-C4B7-0C8517E6257D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BE8F8FF-8A47-0499-2E2C-FF2F2162D683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62104A7-E35A-0F1E-DFC5-CC9D92A9E582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1FFC903-2343-1E16-5DD5-FD1709819C59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E70DC44-9990-A638-F1AB-C4BAC148069A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D55E2D-B450-3EC9-CCF8-9938F03BEDBB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B36B1F-9283-FD15-099D-196BFB2F3A4B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1E7B5FB-7655-E111-6C2A-06C59003395D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036AF06-BE8B-5549-3DF4-3EF8B18E9B83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4647F6B-2DE8-8738-F9AA-DA8A831BD659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BC22A45-98FC-E552-FFA7-617FE364880F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00E2175-E40C-7FD9-998D-72BD22AC272A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3859E15-24E5-9A28-E856-BC1E0166CF2D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FD45803-CF3D-EFDB-6634-3FA0F9268722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790D4-2618-0EB8-CA04-A2204C19DC48}"/>
              </a:ext>
            </a:extLst>
          </p:cNvPr>
          <p:cNvSpPr txBox="1"/>
          <p:nvPr/>
        </p:nvSpPr>
        <p:spPr>
          <a:xfrm>
            <a:off x="2181025" y="1340075"/>
            <a:ext cx="10501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latin typeface="Neo둥근모 Pro" panose="020B0600000101010101" charset="-127"/>
                <a:ea typeface="Neo둥근모 Pro" panose="020B0600000101010101" charset="-127"/>
              </a:rPr>
              <a:t>시사점</a:t>
            </a:r>
            <a:endParaRPr lang="en-US" altLang="ko-KR" sz="400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1C981-F677-0487-42AB-EAA3B47A0222}"/>
              </a:ext>
            </a:extLst>
          </p:cNvPr>
          <p:cNvSpPr txBox="1"/>
          <p:nvPr/>
        </p:nvSpPr>
        <p:spPr>
          <a:xfrm>
            <a:off x="3100182" y="3145015"/>
            <a:ext cx="6617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데이터를 모으고 이용하는 것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D51339-332A-7742-33B8-EA2522CC3447}"/>
              </a:ext>
            </a:extLst>
          </p:cNvPr>
          <p:cNvSpPr txBox="1"/>
          <p:nvPr/>
        </p:nvSpPr>
        <p:spPr>
          <a:xfrm>
            <a:off x="8763593" y="4947295"/>
            <a:ext cx="6617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어떻게</a:t>
            </a:r>
            <a:r>
              <a:rPr lang="en-US" altLang="ko-KR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?</a:t>
            </a:r>
          </a:p>
          <a:p>
            <a:r>
              <a:rPr lang="en-US" altLang="ko-KR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     </a:t>
            </a:r>
            <a:r>
              <a:rPr lang="ko-KR" altLang="en-US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무엇을 위해</a:t>
            </a:r>
            <a:r>
              <a:rPr lang="en-US" altLang="ko-KR" sz="6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?</a:t>
            </a:r>
            <a:endParaRPr lang="ko-KR" altLang="en-US" sz="6000" dirty="0">
              <a:latin typeface="둥근모꼴" panose="020B0600000101010101" charset="-127"/>
              <a:ea typeface="둥근모꼴" panose="020B0600000101010101" charset="-127"/>
              <a:cs typeface="둥근모꼴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301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543C-0D85-B8C7-79B4-A72E7276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901105-BC62-43A9-D29C-C8AAA8C0C759}"/>
              </a:ext>
            </a:extLst>
          </p:cNvPr>
          <p:cNvSpPr/>
          <p:nvPr/>
        </p:nvSpPr>
        <p:spPr>
          <a:xfrm>
            <a:off x="15897595" y="6264230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60E41D-9AE4-3FA6-9FFA-09B058A178D6}"/>
              </a:ext>
            </a:extLst>
          </p:cNvPr>
          <p:cNvSpPr/>
          <p:nvPr/>
        </p:nvSpPr>
        <p:spPr>
          <a:xfrm>
            <a:off x="7920119" y="1364858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252774-C417-3D2F-586B-4B7FA0EC87E7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CA46462-14C3-8C28-B26C-50030B1A226F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A438053-14E6-AFD7-262F-1CC42A46EF82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E71BECD-6E85-F04E-E0D5-947A86A43667}"/>
              </a:ext>
            </a:extLst>
          </p:cNvPr>
          <p:cNvSpPr/>
          <p:nvPr/>
        </p:nvSpPr>
        <p:spPr>
          <a:xfrm>
            <a:off x="699539" y="5946316"/>
            <a:ext cx="1109468" cy="2524877"/>
          </a:xfrm>
          <a:custGeom>
            <a:avLst/>
            <a:gdLst/>
            <a:ahLst/>
            <a:cxnLst/>
            <a:rect l="l" t="t" r="r" b="b"/>
            <a:pathLst>
              <a:path w="1109468" h="2524877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08C965-5C78-6B8E-D721-7B0D6823A24E}"/>
              </a:ext>
            </a:extLst>
          </p:cNvPr>
          <p:cNvSpPr/>
          <p:nvPr/>
        </p:nvSpPr>
        <p:spPr>
          <a:xfrm>
            <a:off x="-179017" y="2929773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F7B6D72-485B-EDBD-E474-BAFFCED8DE45}"/>
              </a:ext>
            </a:extLst>
          </p:cNvPr>
          <p:cNvSpPr/>
          <p:nvPr/>
        </p:nvSpPr>
        <p:spPr>
          <a:xfrm>
            <a:off x="7199197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A57EA43-0D6E-691A-0AFE-469CD0771128}"/>
              </a:ext>
            </a:extLst>
          </p:cNvPr>
          <p:cNvSpPr/>
          <p:nvPr/>
        </p:nvSpPr>
        <p:spPr>
          <a:xfrm>
            <a:off x="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FDE7471-DA8F-EBAC-0ED3-95482C4AD57A}"/>
              </a:ext>
            </a:extLst>
          </p:cNvPr>
          <p:cNvSpPr/>
          <p:nvPr/>
        </p:nvSpPr>
        <p:spPr>
          <a:xfrm>
            <a:off x="8219856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1543331-7AFC-9485-EF07-73AD45345A23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395C883-9A97-4B18-9DF7-5896CD50C254}"/>
              </a:ext>
            </a:extLst>
          </p:cNvPr>
          <p:cNvSpPr/>
          <p:nvPr/>
        </p:nvSpPr>
        <p:spPr>
          <a:xfrm>
            <a:off x="2616907" y="7081419"/>
            <a:ext cx="593432" cy="1350504"/>
          </a:xfrm>
          <a:custGeom>
            <a:avLst/>
            <a:gdLst/>
            <a:ahLst/>
            <a:cxnLst/>
            <a:rect l="l" t="t" r="r" b="b"/>
            <a:pathLst>
              <a:path w="593432" h="1350504">
                <a:moveTo>
                  <a:pt x="0" y="0"/>
                </a:moveTo>
                <a:lnTo>
                  <a:pt x="593431" y="0"/>
                </a:lnTo>
                <a:lnTo>
                  <a:pt x="593431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506D961-6DE4-147B-B1BE-FA5836EE03F2}"/>
              </a:ext>
            </a:extLst>
          </p:cNvPr>
          <p:cNvSpPr/>
          <p:nvPr/>
        </p:nvSpPr>
        <p:spPr>
          <a:xfrm>
            <a:off x="15307539" y="3349747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51BD058-53AB-894B-F9B2-5839EAC9F766}"/>
              </a:ext>
            </a:extLst>
          </p:cNvPr>
          <p:cNvSpPr txBox="1"/>
          <p:nvPr/>
        </p:nvSpPr>
        <p:spPr>
          <a:xfrm>
            <a:off x="4082873" y="4833706"/>
            <a:ext cx="9671925" cy="69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5072">
                <a:solidFill>
                  <a:srgbClr val="53545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READY?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FD369A7-914E-C8EF-FA1A-D3E0660A810B}"/>
              </a:ext>
            </a:extLst>
          </p:cNvPr>
          <p:cNvSpPr/>
          <p:nvPr/>
        </p:nvSpPr>
        <p:spPr>
          <a:xfrm>
            <a:off x="1654342" y="830179"/>
            <a:ext cx="14979315" cy="8891337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B05DE0-B9C4-F33B-2511-D8404DC7699B}"/>
              </a:ext>
            </a:extLst>
          </p:cNvPr>
          <p:cNvSpPr txBox="1"/>
          <p:nvPr/>
        </p:nvSpPr>
        <p:spPr>
          <a:xfrm>
            <a:off x="6101665" y="1825976"/>
            <a:ext cx="66173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아쉬웠던 점</a:t>
            </a:r>
          </a:p>
        </p:txBody>
      </p:sp>
      <p:pic>
        <p:nvPicPr>
          <p:cNvPr id="1030" name="Picture 6" descr="영화 아이언맨 '자비스 시대' 성큼성큼 &lt; IT 이노베이션 &lt; 연재 &lt; 기사본문 - 자유일보">
            <a:extLst>
              <a:ext uri="{FF2B5EF4-FFF2-40B4-BE49-F238E27FC236}">
                <a16:creationId xmlns:a16="http://schemas.microsoft.com/office/drawing/2014/main" id="{53F225FD-82B5-17A3-DBF3-B895743D3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678" y="4030608"/>
            <a:ext cx="5715000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C879B6-D15C-9EBB-585E-A8FEDB60522E}"/>
              </a:ext>
            </a:extLst>
          </p:cNvPr>
          <p:cNvSpPr txBox="1"/>
          <p:nvPr/>
        </p:nvSpPr>
        <p:spPr>
          <a:xfrm>
            <a:off x="9410349" y="4699487"/>
            <a:ext cx="66173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AI </a:t>
            </a:r>
            <a:r>
              <a:rPr lang="ko-KR" altLang="en-US" sz="5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비서와 함께하는</a:t>
            </a:r>
            <a:endParaRPr lang="en-US" altLang="ko-KR" sz="5000" dirty="0">
              <a:latin typeface="둥근모꼴" panose="020B0600000101010101" charset="-127"/>
              <a:ea typeface="둥근모꼴" panose="020B0600000101010101" charset="-127"/>
              <a:cs typeface="둥근모꼴" panose="020B0600000101010101" charset="-127"/>
            </a:endParaRPr>
          </a:p>
          <a:p>
            <a:r>
              <a:rPr lang="ko-KR" altLang="en-US" sz="5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게임</a:t>
            </a:r>
            <a:r>
              <a:rPr lang="en-US" altLang="ko-KR" sz="5000" dirty="0"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</a:rPr>
              <a:t>?</a:t>
            </a:r>
            <a:endParaRPr lang="ko-KR" altLang="en-US" sz="5000" dirty="0">
              <a:latin typeface="둥근모꼴" panose="020B0600000101010101" charset="-127"/>
              <a:ea typeface="둥근모꼴" panose="020B0600000101010101" charset="-127"/>
              <a:cs typeface="둥근모꼴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7079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10346" y="6088611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370246" y="6839230"/>
            <a:ext cx="738550" cy="1680759"/>
          </a:xfrm>
          <a:custGeom>
            <a:avLst/>
            <a:gdLst/>
            <a:ahLst/>
            <a:cxnLst/>
            <a:rect l="l" t="t" r="r" b="b"/>
            <a:pathLst>
              <a:path w="738550" h="1680759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838064" y="2024270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4527791" y="797779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0" y="8078196"/>
            <a:ext cx="6432834" cy="344202"/>
          </a:xfrm>
          <a:custGeom>
            <a:avLst/>
            <a:gdLst/>
            <a:ahLst/>
            <a:cxnLst/>
            <a:rect l="l" t="t" r="r" b="b"/>
            <a:pathLst>
              <a:path w="6432834" h="344202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32" r="-2060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731682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2138168" y="7566563"/>
            <a:ext cx="380252" cy="865360"/>
          </a:xfrm>
          <a:custGeom>
            <a:avLst/>
            <a:gdLst/>
            <a:ahLst/>
            <a:cxnLst/>
            <a:rect l="l" t="t" r="r" b="b"/>
            <a:pathLst>
              <a:path w="380252" h="865360">
                <a:moveTo>
                  <a:pt x="0" y="0"/>
                </a:moveTo>
                <a:lnTo>
                  <a:pt x="380252" y="0"/>
                </a:lnTo>
                <a:lnTo>
                  <a:pt x="380252" y="865360"/>
                </a:lnTo>
                <a:lnTo>
                  <a:pt x="0" y="865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4664616" y="1604296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16503148" y="7131384"/>
            <a:ext cx="554734" cy="1262439"/>
          </a:xfrm>
          <a:custGeom>
            <a:avLst/>
            <a:gdLst/>
            <a:ahLst/>
            <a:cxnLst/>
            <a:rect l="l" t="t" r="r" b="b"/>
            <a:pathLst>
              <a:path w="554734" h="1262439">
                <a:moveTo>
                  <a:pt x="0" y="0"/>
                </a:moveTo>
                <a:lnTo>
                  <a:pt x="554735" y="0"/>
                </a:lnTo>
                <a:lnTo>
                  <a:pt x="554735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6286238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3030834" y="1052945"/>
            <a:ext cx="12226331" cy="6953032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83911-8E36-BD2C-E7C7-EB45AFEF7485}"/>
              </a:ext>
            </a:extLst>
          </p:cNvPr>
          <p:cNvSpPr txBox="1"/>
          <p:nvPr/>
        </p:nvSpPr>
        <p:spPr>
          <a:xfrm>
            <a:off x="7112374" y="1463595"/>
            <a:ext cx="53781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>
                <a:latin typeface="Neo둥근모 Pro" panose="020B0600000101010101" charset="-127"/>
                <a:ea typeface="Neo둥근모 Pro" panose="020B0600000101010101" charset="-127"/>
              </a:rPr>
              <a:t>참고문헌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9F52D-4D0B-24DE-4845-EBD790FF7670}"/>
              </a:ext>
            </a:extLst>
          </p:cNvPr>
          <p:cNvSpPr txBox="1"/>
          <p:nvPr/>
        </p:nvSpPr>
        <p:spPr>
          <a:xfrm>
            <a:off x="3309056" y="2410121"/>
            <a:ext cx="11031608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9"/>
              </a:rPr>
              <a:t>https://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  <a:hlinkClick r:id="rId9"/>
              </a:rPr>
              <a:t>cloud.google.com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9"/>
              </a:rPr>
              <a:t>/discover/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  <a:hlinkClick r:id="rId9"/>
              </a:rPr>
              <a:t>what-are-ai-agents?hl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9"/>
              </a:rPr>
              <a:t>=ko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– ai agent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 에 대한 자료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변혁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1500" dirty="0" err="1">
                <a:latin typeface="Neo둥근모 Pro" panose="020B0600000101010101" charset="-127"/>
                <a:ea typeface="Neo둥근모 Pro" panose="020B0600000101010101" charset="-127"/>
              </a:rPr>
              <a:t>최은만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. (2020-12-21). 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</a:rPr>
              <a:t>GVG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-AI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프레임워크 기반 에이전트를 활용한 게임 테스트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.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한국정보과학회 학술발표논문집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서울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. 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https://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www.dbpia.co.kr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/journal/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articleDetail?nodeId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=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  <a:hlinkClick r:id="rId10"/>
              </a:rPr>
              <a:t>NODE10529591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이영숙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1500" dirty="0" err="1">
                <a:latin typeface="Neo둥근모 Pro" panose="020B0600000101010101" charset="-127"/>
                <a:ea typeface="Neo둥근모 Pro" panose="020B0600000101010101" charset="-127"/>
              </a:rPr>
              <a:t>김형균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. (2025).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게임캐릭터 및 객체 배치를 위한 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AI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기반 다중 에이전트 협업 시스템 연구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.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한국게임학회 </a:t>
            </a:r>
            <a:r>
              <a:rPr lang="ko-KR" altLang="en-US" sz="1500" dirty="0" err="1">
                <a:latin typeface="Neo둥근모 Pro" panose="020B0600000101010101" charset="-127"/>
                <a:ea typeface="Neo둥근모 Pro" panose="020B0600000101010101" charset="-127"/>
              </a:rPr>
              <a:t>논문지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, 25(6), 155-163. 10.7583/</a:t>
            </a:r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</a:rPr>
              <a:t>JKGS.2025.25.6.155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1"/>
              </a:rPr>
              <a:t>https://zdnet.co.kr/view/?no=20251106100853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2"/>
              </a:rPr>
              <a:t>https://www.gianty.com/the-rise-of-ai-agents-in-game-development/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3"/>
              </a:rPr>
              <a:t>https://www.smedaily.co.kr/news/articleView.html?idxno=347204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4"/>
              </a:rPr>
              <a:t>https://www.inven.co.kr/webzine/news/?news=304103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5"/>
              </a:rPr>
              <a:t>https://brunch.co.kr/@262093f026414af/53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6"/>
              </a:rPr>
              <a:t>https://digitaldefynd.com/IQ/ai-in-video-game-testing/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  <a:hlinkClick r:id="rId17"/>
              </a:rPr>
              <a:t>https://isaac-christian.tistory.com/entry/NVIDIA-Omniverse-Isaac-Sim%EC%9D%B4%EB%9E%80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</a:p>
          <a:p>
            <a:pPr lvl="1"/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사용한 인공지능 툴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Gemini –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발표의 구성을 짜는데 도움을 받음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r>
              <a:rPr lang="en-US" altLang="ko-KR" sz="1500" dirty="0" err="1">
                <a:latin typeface="Neo둥근모 Pro" panose="020B0600000101010101" charset="-127"/>
                <a:ea typeface="Neo둥근모 Pro" panose="020B0600000101010101" charset="-127"/>
              </a:rPr>
              <a:t>Dbpia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 AI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에이전트 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–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게임 개발에서의 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에이전트 이용에 관련한 자료를 찾는데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논문을 참고하는 건 어떨까 하여 사용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r>
              <a:rPr lang="ko-KR" altLang="en-US" sz="1500" dirty="0" err="1">
                <a:latin typeface="Neo둥근모 Pro" panose="020B0600000101010101" charset="-127"/>
                <a:ea typeface="Neo둥근모 Pro" panose="020B0600000101010101" charset="-127"/>
              </a:rPr>
              <a:t>클로드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 </a:t>
            </a:r>
            <a:r>
              <a:rPr lang="en-US" altLang="ko-KR" sz="1500" dirty="0">
                <a:latin typeface="Neo둥근모 Pro" panose="020B0600000101010101" charset="-127"/>
                <a:ea typeface="Neo둥근모 Pro" panose="020B0600000101010101" charset="-127"/>
              </a:rPr>
              <a:t>– </a:t>
            </a:r>
            <a:r>
              <a:rPr lang="ko-KR" altLang="en-US" sz="1500" dirty="0">
                <a:latin typeface="Neo둥근모 Pro" panose="020B0600000101010101" charset="-127"/>
                <a:ea typeface="Neo둥근모 Pro" panose="020B0600000101010101" charset="-127"/>
              </a:rPr>
              <a:t>주로 대본의 내용을 풍부하게 만드는데 사용</a:t>
            </a:r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500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ko-KR" altLang="en-US" sz="15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9EEA7-2325-FBC7-3439-193F82AD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5148D-48B7-A37D-CCD1-75413EE27BE5}"/>
              </a:ext>
            </a:extLst>
          </p:cNvPr>
          <p:cNvSpPr/>
          <p:nvPr/>
        </p:nvSpPr>
        <p:spPr>
          <a:xfrm>
            <a:off x="14710346" y="6088611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A0A44A0-A973-D9F9-B268-8CFA92FD1ED1}"/>
              </a:ext>
            </a:extLst>
          </p:cNvPr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0171793-6C20-07CF-A290-4EA99298B8BC}"/>
              </a:ext>
            </a:extLst>
          </p:cNvPr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20D9027-E358-C65B-C9B6-3EC61667B886}"/>
              </a:ext>
            </a:extLst>
          </p:cNvPr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7DCC59-95F7-9698-1907-68C294E64FB0}"/>
              </a:ext>
            </a:extLst>
          </p:cNvPr>
          <p:cNvSpPr/>
          <p:nvPr/>
        </p:nvSpPr>
        <p:spPr>
          <a:xfrm>
            <a:off x="1370246" y="6839230"/>
            <a:ext cx="738550" cy="1680759"/>
          </a:xfrm>
          <a:custGeom>
            <a:avLst/>
            <a:gdLst/>
            <a:ahLst/>
            <a:cxnLst/>
            <a:rect l="l" t="t" r="r" b="b"/>
            <a:pathLst>
              <a:path w="738550" h="1680759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8311D7D-AF6E-521C-E8EE-8B5B30959B51}"/>
              </a:ext>
            </a:extLst>
          </p:cNvPr>
          <p:cNvSpPr/>
          <p:nvPr/>
        </p:nvSpPr>
        <p:spPr>
          <a:xfrm>
            <a:off x="838064" y="2024270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BA1987-30A7-ACFC-61FD-848D6BDA55F4}"/>
              </a:ext>
            </a:extLst>
          </p:cNvPr>
          <p:cNvSpPr/>
          <p:nvPr/>
        </p:nvSpPr>
        <p:spPr>
          <a:xfrm>
            <a:off x="14527791" y="797779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B2C634D-8FAB-8682-DC86-F7F9931E8945}"/>
              </a:ext>
            </a:extLst>
          </p:cNvPr>
          <p:cNvSpPr/>
          <p:nvPr/>
        </p:nvSpPr>
        <p:spPr>
          <a:xfrm>
            <a:off x="0" y="8078196"/>
            <a:ext cx="6432834" cy="344202"/>
          </a:xfrm>
          <a:custGeom>
            <a:avLst/>
            <a:gdLst/>
            <a:ahLst/>
            <a:cxnLst/>
            <a:rect l="l" t="t" r="r" b="b"/>
            <a:pathLst>
              <a:path w="6432834" h="344202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32" r="-2060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64FA04E-900E-3612-3F5F-FE45E0A1EA04}"/>
              </a:ext>
            </a:extLst>
          </p:cNvPr>
          <p:cNvSpPr/>
          <p:nvPr/>
        </p:nvSpPr>
        <p:spPr>
          <a:xfrm>
            <a:off x="731682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39EBF2F-DA6E-E792-3912-AE0C7275F7E5}"/>
              </a:ext>
            </a:extLst>
          </p:cNvPr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75416EB-4286-34E7-B675-C5F1A7124E67}"/>
              </a:ext>
            </a:extLst>
          </p:cNvPr>
          <p:cNvSpPr/>
          <p:nvPr/>
        </p:nvSpPr>
        <p:spPr>
          <a:xfrm>
            <a:off x="2138168" y="7566563"/>
            <a:ext cx="380252" cy="865360"/>
          </a:xfrm>
          <a:custGeom>
            <a:avLst/>
            <a:gdLst/>
            <a:ahLst/>
            <a:cxnLst/>
            <a:rect l="l" t="t" r="r" b="b"/>
            <a:pathLst>
              <a:path w="380252" h="865360">
                <a:moveTo>
                  <a:pt x="0" y="0"/>
                </a:moveTo>
                <a:lnTo>
                  <a:pt x="380252" y="0"/>
                </a:lnTo>
                <a:lnTo>
                  <a:pt x="380252" y="865360"/>
                </a:lnTo>
                <a:lnTo>
                  <a:pt x="0" y="865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05376A3-3C15-B27C-5CA8-59EEAE8C7D4C}"/>
              </a:ext>
            </a:extLst>
          </p:cNvPr>
          <p:cNvSpPr/>
          <p:nvPr/>
        </p:nvSpPr>
        <p:spPr>
          <a:xfrm>
            <a:off x="14664616" y="1604296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AABED9D-84F2-3B79-ECA7-0C28B6D75364}"/>
              </a:ext>
            </a:extLst>
          </p:cNvPr>
          <p:cNvSpPr/>
          <p:nvPr/>
        </p:nvSpPr>
        <p:spPr>
          <a:xfrm>
            <a:off x="16503148" y="7131384"/>
            <a:ext cx="554734" cy="1262439"/>
          </a:xfrm>
          <a:custGeom>
            <a:avLst/>
            <a:gdLst/>
            <a:ahLst/>
            <a:cxnLst/>
            <a:rect l="l" t="t" r="r" b="b"/>
            <a:pathLst>
              <a:path w="554734" h="1262439">
                <a:moveTo>
                  <a:pt x="0" y="0"/>
                </a:moveTo>
                <a:lnTo>
                  <a:pt x="554735" y="0"/>
                </a:lnTo>
                <a:lnTo>
                  <a:pt x="554735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C8DB138-7ADC-C22F-050D-67558BA6DC78}"/>
              </a:ext>
            </a:extLst>
          </p:cNvPr>
          <p:cNvSpPr/>
          <p:nvPr/>
        </p:nvSpPr>
        <p:spPr>
          <a:xfrm>
            <a:off x="6286238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496BDAF-B088-C119-66B6-675A69CB832B}"/>
              </a:ext>
            </a:extLst>
          </p:cNvPr>
          <p:cNvSpPr/>
          <p:nvPr/>
        </p:nvSpPr>
        <p:spPr>
          <a:xfrm>
            <a:off x="3128405" y="1340075"/>
            <a:ext cx="12226331" cy="6826584"/>
          </a:xfrm>
          <a:custGeom>
            <a:avLst/>
            <a:gdLst/>
            <a:ahLst/>
            <a:cxnLst/>
            <a:rect l="l" t="t" r="r" b="b"/>
            <a:pathLst>
              <a:path w="10127063" h="2444539">
                <a:moveTo>
                  <a:pt x="0" y="0"/>
                </a:moveTo>
                <a:lnTo>
                  <a:pt x="10127064" y="0"/>
                </a:lnTo>
                <a:lnTo>
                  <a:pt x="10127064" y="2444539"/>
                </a:lnTo>
                <a:lnTo>
                  <a:pt x="0" y="244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68163-63FE-694B-FB08-A0A31DB1A103}"/>
              </a:ext>
            </a:extLst>
          </p:cNvPr>
          <p:cNvSpPr txBox="1"/>
          <p:nvPr/>
        </p:nvSpPr>
        <p:spPr>
          <a:xfrm>
            <a:off x="3597180" y="1880744"/>
            <a:ext cx="53781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sz="5000" dirty="0">
                <a:latin typeface="Neo둥근모 Pro" panose="020B0600000101010101" charset="-127"/>
                <a:ea typeface="Neo둥근모 Pro" panose="020B0600000101010101" charset="-127"/>
              </a:rPr>
              <a:t>사용 내역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5663642-A4DD-A27D-2B13-4B9F46880F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8247" y="4212276"/>
            <a:ext cx="5378116" cy="32157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70E713-10F3-E3AA-246D-A4F1EE9B22C4}"/>
              </a:ext>
            </a:extLst>
          </p:cNvPr>
          <p:cNvSpPr txBox="1"/>
          <p:nvPr/>
        </p:nvSpPr>
        <p:spPr>
          <a:xfrm>
            <a:off x="3597180" y="2983635"/>
            <a:ext cx="36749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에이전트의 정의 부터 </a:t>
            </a:r>
            <a:r>
              <a:rPr lang="ko-KR" altLang="en-US" dirty="0" err="1">
                <a:latin typeface="Neo둥근모 Pro" panose="020B0600000101010101" charset="-127"/>
                <a:ea typeface="Neo둥근모 Pro" panose="020B0600000101010101" charset="-127"/>
              </a:rPr>
              <a:t>사용처등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 과 같이 전체적으로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에이전트에 관한 기본 개념을 먼저 물어 본 후 게임이라는 분야의 특성과 </a:t>
            </a:r>
            <a:r>
              <a:rPr lang="ko-KR" altLang="en-US" dirty="0" err="1">
                <a:latin typeface="Neo둥근모 Pro" panose="020B0600000101010101" charset="-127"/>
                <a:ea typeface="Neo둥근모 Pro" panose="020B0600000101010101" charset="-127"/>
              </a:rPr>
              <a:t>연관지어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 게임의 몰입도 강화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.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유저들의 흥미도 강화 등과 같은 목적을 기반으로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에이전트를 사용한 게임 예시를 찾아봄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,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이후 게임 제작과 관련된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에이전트 이용처는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DBPIA AI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에게 물어보고 실제 사례를 뉴스 기반으로 찾았음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(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특히 </a:t>
            </a:r>
            <a:r>
              <a:rPr lang="en-US" altLang="ko-KR" dirty="0">
                <a:latin typeface="Neo둥근모 Pro" panose="020B0600000101010101" charset="-127"/>
                <a:ea typeface="Neo둥근모 Pro" panose="020B0600000101010101" charset="-127"/>
              </a:rPr>
              <a:t>ai </a:t>
            </a:r>
            <a:r>
              <a:rPr lang="ko-KR" altLang="en-US" dirty="0">
                <a:latin typeface="Neo둥근모 Pro" panose="020B0600000101010101" charset="-127"/>
                <a:ea typeface="Neo둥근모 Pro" panose="020B0600000101010101" charset="-127"/>
              </a:rPr>
              <a:t>에이전트라는 조건을 충족시키기 위해 </a:t>
            </a:r>
            <a:endParaRPr lang="en-US" altLang="ko-KR" dirty="0">
              <a:latin typeface="Neo둥근모 Pro" panose="020B0600000101010101" charset="-127"/>
              <a:ea typeface="Neo둥근모 Pro" panose="020B0600000101010101" charset="-127"/>
            </a:endParaRPr>
          </a:p>
          <a:p>
            <a:pPr lvl="1"/>
            <a:endParaRPr lang="en-US" altLang="ko-KR" sz="1800" dirty="0">
              <a:latin typeface="Neo둥근모 Pro" panose="020B0600000101010101" charset="-127"/>
              <a:ea typeface="Neo둥근모 Pro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88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3534" y="6186202"/>
            <a:ext cx="2163004" cy="2333787"/>
          </a:xfrm>
          <a:custGeom>
            <a:avLst/>
            <a:gdLst/>
            <a:ahLst/>
            <a:cxnLst/>
            <a:rect l="l" t="t" r="r" b="b"/>
            <a:pathLst>
              <a:path w="2163004" h="2333787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302873" y="83938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-179017" y="8519989"/>
            <a:ext cx="7291391" cy="426936"/>
          </a:xfrm>
          <a:custGeom>
            <a:avLst/>
            <a:gdLst/>
            <a:ahLst/>
            <a:cxnLst/>
            <a:rect l="l" t="t" r="r" b="b"/>
            <a:pathLst>
              <a:path w="7291391" h="426936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b="-13794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4690294" y="8431923"/>
            <a:ext cx="7195413" cy="515002"/>
          </a:xfrm>
          <a:custGeom>
            <a:avLst/>
            <a:gdLst/>
            <a:ahLst/>
            <a:cxnLst/>
            <a:rect l="l" t="t" r="r" b="b"/>
            <a:pathLst>
              <a:path w="7195413" h="515002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b="-11435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5559966" y="6839230"/>
            <a:ext cx="738550" cy="1680759"/>
          </a:xfrm>
          <a:custGeom>
            <a:avLst/>
            <a:gdLst/>
            <a:ahLst/>
            <a:cxnLst/>
            <a:rect l="l" t="t" r="r" b="b"/>
            <a:pathLst>
              <a:path w="738550" h="1680759">
                <a:moveTo>
                  <a:pt x="0" y="0"/>
                </a:moveTo>
                <a:lnTo>
                  <a:pt x="738551" y="0"/>
                </a:lnTo>
                <a:lnTo>
                  <a:pt x="738551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306067" y="2141100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4527791" y="797779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0" y="8078196"/>
            <a:ext cx="6432834" cy="344202"/>
          </a:xfrm>
          <a:custGeom>
            <a:avLst/>
            <a:gdLst/>
            <a:ahLst/>
            <a:cxnLst/>
            <a:rect l="l" t="t" r="r" b="b"/>
            <a:pathLst>
              <a:path w="6432834" h="344202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32" r="-2060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7316820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>
          <a:xfrm>
            <a:off x="15567652" y="8078196"/>
            <a:ext cx="7347797" cy="344202"/>
          </a:xfrm>
          <a:custGeom>
            <a:avLst/>
            <a:gdLst/>
            <a:ahLst/>
            <a:cxnLst/>
            <a:rect l="l" t="t" r="r" b="b"/>
            <a:pathLst>
              <a:path w="7347797" h="344202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6" r="-558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2"/>
          <p:cNvSpPr/>
          <p:nvPr/>
        </p:nvSpPr>
        <p:spPr>
          <a:xfrm>
            <a:off x="15567652" y="2141100"/>
            <a:ext cx="2980461" cy="839948"/>
          </a:xfrm>
          <a:custGeom>
            <a:avLst/>
            <a:gdLst/>
            <a:ahLst/>
            <a:cxnLst/>
            <a:rect l="l" t="t" r="r" b="b"/>
            <a:pathLst>
              <a:path w="2980461" h="839948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>
            <a:off x="1028700" y="7257550"/>
            <a:ext cx="554734" cy="1262439"/>
          </a:xfrm>
          <a:custGeom>
            <a:avLst/>
            <a:gdLst/>
            <a:ahLst/>
            <a:cxnLst/>
            <a:rect l="l" t="t" r="r" b="b"/>
            <a:pathLst>
              <a:path w="554734" h="1262439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>
            <a:off x="6286238" y="7996849"/>
            <a:ext cx="1178951" cy="282023"/>
          </a:xfrm>
          <a:custGeom>
            <a:avLst/>
            <a:gdLst/>
            <a:ahLst/>
            <a:cxnLst/>
            <a:rect l="l" t="t" r="r" b="b"/>
            <a:pathLst>
              <a:path w="1178951" h="282023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18033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/>
          <p:nvPr/>
        </p:nvSpPr>
        <p:spPr>
          <a:xfrm>
            <a:off x="8482421" y="5628608"/>
            <a:ext cx="1323159" cy="1323159"/>
          </a:xfrm>
          <a:custGeom>
            <a:avLst/>
            <a:gdLst/>
            <a:ahLst/>
            <a:cxnLst/>
            <a:rect l="l" t="t" r="r" b="b"/>
            <a:pathLst>
              <a:path w="1323159" h="1323159">
                <a:moveTo>
                  <a:pt x="0" y="0"/>
                </a:moveTo>
                <a:lnTo>
                  <a:pt x="1323158" y="0"/>
                </a:lnTo>
                <a:lnTo>
                  <a:pt x="1323158" y="1323159"/>
                </a:lnTo>
                <a:lnTo>
                  <a:pt x="0" y="1323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 flipH="1">
            <a:off x="8728084" y="5902846"/>
            <a:ext cx="774682" cy="774682"/>
          </a:xfrm>
          <a:custGeom>
            <a:avLst/>
            <a:gdLst/>
            <a:ahLst/>
            <a:cxnLst/>
            <a:rect l="l" t="t" r="r" b="b"/>
            <a:pathLst>
              <a:path w="774682" h="774682">
                <a:moveTo>
                  <a:pt x="774682" y="0"/>
                </a:moveTo>
                <a:lnTo>
                  <a:pt x="0" y="0"/>
                </a:lnTo>
                <a:lnTo>
                  <a:pt x="0" y="774683"/>
                </a:lnTo>
                <a:lnTo>
                  <a:pt x="774682" y="774683"/>
                </a:lnTo>
                <a:lnTo>
                  <a:pt x="7746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975752" y="3857348"/>
            <a:ext cx="14336496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7"/>
              </a:lnSpc>
              <a:spcBef>
                <a:spcPct val="0"/>
              </a:spcBef>
            </a:pPr>
            <a:r>
              <a:rPr lang="ko-KR" altLang="en-US" sz="10000" spc="2207">
                <a:solidFill>
                  <a:srgbClr val="535454"/>
                </a:solidFill>
                <a:latin typeface="둥근모꼴" panose="020B0600000101010101" charset="-127"/>
                <a:ea typeface="둥근모꼴" panose="020B0600000101010101" charset="-127"/>
                <a:cs typeface="둥근모꼴" panose="020B0600000101010101" charset="-127"/>
                <a:sym typeface="Arcade Gamer"/>
              </a:rPr>
              <a:t>감사합니다</a:t>
            </a:r>
            <a:endParaRPr lang="en-US" sz="10000" spc="2207">
              <a:solidFill>
                <a:srgbClr val="535454"/>
              </a:solidFill>
              <a:latin typeface="둥근모꼴" panose="020B0600000101010101" charset="-127"/>
              <a:ea typeface="둥근모꼴" panose="020B0600000101010101" charset="-127"/>
              <a:cs typeface="둥근모꼴" panose="020B0600000101010101" charset="-127"/>
              <a:sym typeface="Arcade Gamer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6498542" y="6839230"/>
            <a:ext cx="738550" cy="1680759"/>
          </a:xfrm>
          <a:custGeom>
            <a:avLst/>
            <a:gdLst/>
            <a:ahLst/>
            <a:cxnLst/>
            <a:rect l="l" t="t" r="r" b="b"/>
            <a:pathLst>
              <a:path w="738550" h="1680759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81"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1827459BC7B014C9327DA7323F14A8C" ma:contentTypeVersion="4" ma:contentTypeDescription="새 문서를 만듭니다." ma:contentTypeScope="" ma:versionID="c50e932bb940e41ddeb852ad3ac0fef1">
  <xsd:schema xmlns:xsd="http://www.w3.org/2001/XMLSchema" xmlns:xs="http://www.w3.org/2001/XMLSchema" xmlns:p="http://schemas.microsoft.com/office/2006/metadata/properties" xmlns:ns3="7b2adf94-5fe6-4f41-9cf4-c8d8bd277629" targetNamespace="http://schemas.microsoft.com/office/2006/metadata/properties" ma:root="true" ma:fieldsID="26d7d2091873802019e4790adea35691" ns3:_="">
    <xsd:import namespace="7b2adf94-5fe6-4f41-9cf4-c8d8bd27762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2adf94-5fe6-4f41-9cf4-c8d8bd27762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B3DBAD-5243-46FC-A448-396D65AFA0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7FE772-88B0-4BC2-97AB-F659848EE8A7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7b2adf94-5fe6-4f41-9cf4-c8d8bd277629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C718ADE-D4AE-4847-B360-C16567D51FBE}">
  <ds:schemaRefs>
    <ds:schemaRef ds:uri="7b2adf94-5fe6-4f41-9cf4-c8d8bd2776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716</Words>
  <Application>Microsoft Office PowerPoint</Application>
  <PresentationFormat>사용자 지정</PresentationFormat>
  <Paragraphs>129</Paragraphs>
  <Slides>23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Neo둥근모 Pro</vt:lpstr>
      <vt:lpstr>둥근모꼴</vt:lpstr>
      <vt:lpstr>Calibri</vt:lpstr>
      <vt:lpstr>Press Start 2P</vt:lpstr>
      <vt:lpstr>Arial</vt:lpstr>
      <vt:lpstr>Arcade Gamer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Gray Modern Pixel Dino Trivia Game Night Presentation</dc:title>
  <dc:creator>박정일</dc:creator>
  <cp:lastModifiedBy>박종은</cp:lastModifiedBy>
  <cp:revision>2</cp:revision>
  <dcterms:created xsi:type="dcterms:W3CDTF">2006-08-16T00:00:00Z</dcterms:created>
  <dcterms:modified xsi:type="dcterms:W3CDTF">2026-04-28T06:51:55Z</dcterms:modified>
  <dc:identifier>DAHEz_uVywI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0x01010011827459BC7B014C9327DA7323F14A8C</vt:lpwstr>
  </property>
</Properties>
</file>